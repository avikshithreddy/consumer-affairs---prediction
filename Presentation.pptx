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08"/>
    <p:restoredTop sz="94681"/>
  </p:normalViewPr>
  <p:slideViewPr>
    <p:cSldViewPr snapToGrid="0">
      <p:cViewPr varScale="1">
        <p:scale>
          <a:sx n="112" d="100"/>
          <a:sy n="112" d="100"/>
        </p:scale>
        <p:origin x="216" y="9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742235-4118-7645-86A2-CF71427CC406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</dgm:pt>
    <dgm:pt modelId="{7A059E38-26E9-A842-9C52-84A0F379134C}">
      <dgm:prSet phldrT="[Text]"/>
      <dgm:spPr/>
      <dgm:t>
        <a:bodyPr/>
        <a:lstStyle/>
        <a:p>
          <a:pPr>
            <a:buFont typeface="+mj-lt"/>
            <a:buAutoNum type="arabicPeriod" startAt="3"/>
          </a:pPr>
          <a:r>
            <a:rPr lang="en-IN" b="1" dirty="0"/>
            <a:t>Problem</a:t>
          </a:r>
          <a:r>
            <a:rPr lang="en-IN" dirty="0"/>
            <a:t> (Low conversion rate, many leads, limited sales bandwidth)</a:t>
          </a:r>
          <a:endParaRPr lang="en-GB" dirty="0"/>
        </a:p>
      </dgm:t>
    </dgm:pt>
    <dgm:pt modelId="{688325C5-75B5-A34D-8688-E2DEF5E630FB}" type="parTrans" cxnId="{C02EF559-A1A8-D949-BE51-2E7254BCFAE3}">
      <dgm:prSet/>
      <dgm:spPr/>
      <dgm:t>
        <a:bodyPr/>
        <a:lstStyle/>
        <a:p>
          <a:endParaRPr lang="en-GB"/>
        </a:p>
      </dgm:t>
    </dgm:pt>
    <dgm:pt modelId="{B07803FC-A8FA-1949-A674-8D1E0DB50490}" type="sibTrans" cxnId="{C02EF559-A1A8-D949-BE51-2E7254BCFAE3}">
      <dgm:prSet/>
      <dgm:spPr/>
      <dgm:t>
        <a:bodyPr/>
        <a:lstStyle/>
        <a:p>
          <a:endParaRPr lang="en-GB"/>
        </a:p>
      </dgm:t>
    </dgm:pt>
    <dgm:pt modelId="{EE5D5A64-D823-B849-8F1A-759AA5D0D3AC}">
      <dgm:prSet phldrT="[Text]"/>
      <dgm:spPr/>
      <dgm:t>
        <a:bodyPr/>
        <a:lstStyle/>
        <a:p>
          <a:pPr>
            <a:buFont typeface="+mj-lt"/>
            <a:buAutoNum type="arabicPeriod" startAt="3"/>
          </a:pPr>
          <a:r>
            <a:rPr lang="en-IN" b="1" dirty="0"/>
            <a:t>Approach</a:t>
          </a:r>
          <a:r>
            <a:rPr lang="en-IN" dirty="0"/>
            <a:t> (Data cleaning, feature engineering, ML models)</a:t>
          </a:r>
          <a:endParaRPr lang="en-GB" dirty="0"/>
        </a:p>
      </dgm:t>
    </dgm:pt>
    <dgm:pt modelId="{6D6E63FF-64BB-8A43-B657-ED263E183BEF}" type="parTrans" cxnId="{D7E40547-BEF0-7E4C-B049-D31E940AC000}">
      <dgm:prSet/>
      <dgm:spPr/>
      <dgm:t>
        <a:bodyPr/>
        <a:lstStyle/>
        <a:p>
          <a:endParaRPr lang="en-GB"/>
        </a:p>
      </dgm:t>
    </dgm:pt>
    <dgm:pt modelId="{0CD10AE3-C2B6-F447-963C-46D373714FAE}" type="sibTrans" cxnId="{D7E40547-BEF0-7E4C-B049-D31E940AC000}">
      <dgm:prSet/>
      <dgm:spPr/>
      <dgm:t>
        <a:bodyPr/>
        <a:lstStyle/>
        <a:p>
          <a:endParaRPr lang="en-GB"/>
        </a:p>
      </dgm:t>
    </dgm:pt>
    <dgm:pt modelId="{E5AED2E2-673F-0448-926B-1D29AA0F1593}">
      <dgm:prSet phldrT="[Text]"/>
      <dgm:spPr/>
      <dgm:t>
        <a:bodyPr/>
        <a:lstStyle/>
        <a:p>
          <a:pPr>
            <a:buFont typeface="+mj-lt"/>
            <a:buAutoNum type="arabicPeriod" startAt="3"/>
          </a:pPr>
          <a:r>
            <a:rPr lang="en-IN" b="1" dirty="0"/>
            <a:t>Output</a:t>
          </a:r>
          <a:r>
            <a:rPr lang="en-IN" dirty="0"/>
            <a:t> (Lead scores)</a:t>
          </a:r>
          <a:endParaRPr lang="en-GB" dirty="0"/>
        </a:p>
      </dgm:t>
    </dgm:pt>
    <dgm:pt modelId="{0D6BBFE0-6ABB-DF40-85BB-3C2F575A3E2C}" type="parTrans" cxnId="{756E9D5F-EA1F-6E4E-A222-5ADEE613644E}">
      <dgm:prSet/>
      <dgm:spPr/>
      <dgm:t>
        <a:bodyPr/>
        <a:lstStyle/>
        <a:p>
          <a:endParaRPr lang="en-GB"/>
        </a:p>
      </dgm:t>
    </dgm:pt>
    <dgm:pt modelId="{D8E2056A-03A3-BE46-B66A-EA4C72B43310}" type="sibTrans" cxnId="{756E9D5F-EA1F-6E4E-A222-5ADEE613644E}">
      <dgm:prSet/>
      <dgm:spPr/>
      <dgm:t>
        <a:bodyPr/>
        <a:lstStyle/>
        <a:p>
          <a:endParaRPr lang="en-GB"/>
        </a:p>
      </dgm:t>
    </dgm:pt>
    <dgm:pt modelId="{E5E3D420-4A75-1044-BB12-C9743636C451}">
      <dgm:prSet/>
      <dgm:spPr/>
      <dgm:t>
        <a:bodyPr/>
        <a:lstStyle/>
        <a:p>
          <a:r>
            <a:rPr lang="en-GB" dirty="0"/>
            <a:t>Action</a:t>
          </a:r>
        </a:p>
      </dgm:t>
    </dgm:pt>
    <dgm:pt modelId="{A74E2509-478E-B142-9553-02510D87AC9B}" type="parTrans" cxnId="{0EC764DA-82A8-5840-81C0-7420FD12F488}">
      <dgm:prSet/>
      <dgm:spPr/>
      <dgm:t>
        <a:bodyPr/>
        <a:lstStyle/>
        <a:p>
          <a:endParaRPr lang="en-GB"/>
        </a:p>
      </dgm:t>
    </dgm:pt>
    <dgm:pt modelId="{D119184E-5ABA-C245-91DE-05ADA009DBC0}" type="sibTrans" cxnId="{0EC764DA-82A8-5840-81C0-7420FD12F488}">
      <dgm:prSet/>
      <dgm:spPr/>
      <dgm:t>
        <a:bodyPr/>
        <a:lstStyle/>
        <a:p>
          <a:endParaRPr lang="en-GB"/>
        </a:p>
      </dgm:t>
    </dgm:pt>
    <dgm:pt modelId="{8176D93B-FDA3-D942-A42B-AD2D2E2B0C31}" type="pres">
      <dgm:prSet presAssocID="{23742235-4118-7645-86A2-CF71427CC406}" presName="Name0" presStyleCnt="0">
        <dgm:presLayoutVars>
          <dgm:dir/>
          <dgm:resizeHandles val="exact"/>
        </dgm:presLayoutVars>
      </dgm:prSet>
      <dgm:spPr/>
    </dgm:pt>
    <dgm:pt modelId="{719400D6-0B44-C643-91D4-D33FCBB43DBD}" type="pres">
      <dgm:prSet presAssocID="{7A059E38-26E9-A842-9C52-84A0F379134C}" presName="node" presStyleLbl="node1" presStyleIdx="0" presStyleCnt="4">
        <dgm:presLayoutVars>
          <dgm:bulletEnabled val="1"/>
        </dgm:presLayoutVars>
      </dgm:prSet>
      <dgm:spPr/>
    </dgm:pt>
    <dgm:pt modelId="{4A51A9E5-5AA1-6D48-BB79-10B97EAB5A7B}" type="pres">
      <dgm:prSet presAssocID="{B07803FC-A8FA-1949-A674-8D1E0DB50490}" presName="sibTrans" presStyleLbl="sibTrans2D1" presStyleIdx="0" presStyleCnt="3"/>
      <dgm:spPr/>
    </dgm:pt>
    <dgm:pt modelId="{51EB1357-B69C-2C47-9361-E58993A64B33}" type="pres">
      <dgm:prSet presAssocID="{B07803FC-A8FA-1949-A674-8D1E0DB50490}" presName="connectorText" presStyleLbl="sibTrans2D1" presStyleIdx="0" presStyleCnt="3"/>
      <dgm:spPr/>
    </dgm:pt>
    <dgm:pt modelId="{A7A17B4C-D51D-8C44-B78D-736080CBBF70}" type="pres">
      <dgm:prSet presAssocID="{EE5D5A64-D823-B849-8F1A-759AA5D0D3AC}" presName="node" presStyleLbl="node1" presStyleIdx="1" presStyleCnt="4">
        <dgm:presLayoutVars>
          <dgm:bulletEnabled val="1"/>
        </dgm:presLayoutVars>
      </dgm:prSet>
      <dgm:spPr/>
    </dgm:pt>
    <dgm:pt modelId="{E969AD59-D211-ED4D-94AA-2F729207DB4C}" type="pres">
      <dgm:prSet presAssocID="{0CD10AE3-C2B6-F447-963C-46D373714FAE}" presName="sibTrans" presStyleLbl="sibTrans2D1" presStyleIdx="1" presStyleCnt="3"/>
      <dgm:spPr/>
    </dgm:pt>
    <dgm:pt modelId="{A972198D-DDB3-6544-ACDD-5F1B3066509E}" type="pres">
      <dgm:prSet presAssocID="{0CD10AE3-C2B6-F447-963C-46D373714FAE}" presName="connectorText" presStyleLbl="sibTrans2D1" presStyleIdx="1" presStyleCnt="3"/>
      <dgm:spPr/>
    </dgm:pt>
    <dgm:pt modelId="{0FD0605A-B81A-0440-AD0F-67FFF79B34F3}" type="pres">
      <dgm:prSet presAssocID="{E5AED2E2-673F-0448-926B-1D29AA0F1593}" presName="node" presStyleLbl="node1" presStyleIdx="2" presStyleCnt="4">
        <dgm:presLayoutVars>
          <dgm:bulletEnabled val="1"/>
        </dgm:presLayoutVars>
      </dgm:prSet>
      <dgm:spPr/>
    </dgm:pt>
    <dgm:pt modelId="{0B958637-3396-9C45-AEE2-E129C82213C4}" type="pres">
      <dgm:prSet presAssocID="{D8E2056A-03A3-BE46-B66A-EA4C72B43310}" presName="sibTrans" presStyleLbl="sibTrans2D1" presStyleIdx="2" presStyleCnt="3"/>
      <dgm:spPr/>
    </dgm:pt>
    <dgm:pt modelId="{30BE502A-5057-DF4A-9043-2EFEEDC380E4}" type="pres">
      <dgm:prSet presAssocID="{D8E2056A-03A3-BE46-B66A-EA4C72B43310}" presName="connectorText" presStyleLbl="sibTrans2D1" presStyleIdx="2" presStyleCnt="3"/>
      <dgm:spPr/>
    </dgm:pt>
    <dgm:pt modelId="{8AB3370F-5985-E248-AB60-489A92F432E9}" type="pres">
      <dgm:prSet presAssocID="{E5E3D420-4A75-1044-BB12-C9743636C451}" presName="node" presStyleLbl="node1" presStyleIdx="3" presStyleCnt="4">
        <dgm:presLayoutVars>
          <dgm:bulletEnabled val="1"/>
        </dgm:presLayoutVars>
      </dgm:prSet>
      <dgm:spPr/>
    </dgm:pt>
  </dgm:ptLst>
  <dgm:cxnLst>
    <dgm:cxn modelId="{289F610B-7706-3946-AD3D-BC69FFE96472}" type="presOf" srcId="{23742235-4118-7645-86A2-CF71427CC406}" destId="{8176D93B-FDA3-D942-A42B-AD2D2E2B0C31}" srcOrd="0" destOrd="0" presId="urn:microsoft.com/office/officeart/2005/8/layout/process1"/>
    <dgm:cxn modelId="{25BCBE1E-DC43-C949-95D6-063F6D33CC6E}" type="presOf" srcId="{B07803FC-A8FA-1949-A674-8D1E0DB50490}" destId="{51EB1357-B69C-2C47-9361-E58993A64B33}" srcOrd="1" destOrd="0" presId="urn:microsoft.com/office/officeart/2005/8/layout/process1"/>
    <dgm:cxn modelId="{B141752E-6EC1-5C45-99D6-DE67C4857BB3}" type="presOf" srcId="{7A059E38-26E9-A842-9C52-84A0F379134C}" destId="{719400D6-0B44-C643-91D4-D33FCBB43DBD}" srcOrd="0" destOrd="0" presId="urn:microsoft.com/office/officeart/2005/8/layout/process1"/>
    <dgm:cxn modelId="{0976673A-75E7-B046-B9CA-9936EDB3C31E}" type="presOf" srcId="{0CD10AE3-C2B6-F447-963C-46D373714FAE}" destId="{A972198D-DDB3-6544-ACDD-5F1B3066509E}" srcOrd="1" destOrd="0" presId="urn:microsoft.com/office/officeart/2005/8/layout/process1"/>
    <dgm:cxn modelId="{D7E40547-BEF0-7E4C-B049-D31E940AC000}" srcId="{23742235-4118-7645-86A2-CF71427CC406}" destId="{EE5D5A64-D823-B849-8F1A-759AA5D0D3AC}" srcOrd="1" destOrd="0" parTransId="{6D6E63FF-64BB-8A43-B657-ED263E183BEF}" sibTransId="{0CD10AE3-C2B6-F447-963C-46D373714FAE}"/>
    <dgm:cxn modelId="{727A7C48-8BE3-384F-B748-F65F81A20C95}" type="presOf" srcId="{0CD10AE3-C2B6-F447-963C-46D373714FAE}" destId="{E969AD59-D211-ED4D-94AA-2F729207DB4C}" srcOrd="0" destOrd="0" presId="urn:microsoft.com/office/officeart/2005/8/layout/process1"/>
    <dgm:cxn modelId="{C02EF559-A1A8-D949-BE51-2E7254BCFAE3}" srcId="{23742235-4118-7645-86A2-CF71427CC406}" destId="{7A059E38-26E9-A842-9C52-84A0F379134C}" srcOrd="0" destOrd="0" parTransId="{688325C5-75B5-A34D-8688-E2DEF5E630FB}" sibTransId="{B07803FC-A8FA-1949-A674-8D1E0DB50490}"/>
    <dgm:cxn modelId="{756E9D5F-EA1F-6E4E-A222-5ADEE613644E}" srcId="{23742235-4118-7645-86A2-CF71427CC406}" destId="{E5AED2E2-673F-0448-926B-1D29AA0F1593}" srcOrd="2" destOrd="0" parTransId="{0D6BBFE0-6ABB-DF40-85BB-3C2F575A3E2C}" sibTransId="{D8E2056A-03A3-BE46-B66A-EA4C72B43310}"/>
    <dgm:cxn modelId="{06D36E86-93AD-264D-B3B5-48A30E305B2E}" type="presOf" srcId="{E5E3D420-4A75-1044-BB12-C9743636C451}" destId="{8AB3370F-5985-E248-AB60-489A92F432E9}" srcOrd="0" destOrd="0" presId="urn:microsoft.com/office/officeart/2005/8/layout/process1"/>
    <dgm:cxn modelId="{E78F4793-A7B6-6646-9D47-0060B4068C7E}" type="presOf" srcId="{D8E2056A-03A3-BE46-B66A-EA4C72B43310}" destId="{30BE502A-5057-DF4A-9043-2EFEEDC380E4}" srcOrd="1" destOrd="0" presId="urn:microsoft.com/office/officeart/2005/8/layout/process1"/>
    <dgm:cxn modelId="{62487A9C-97A7-E84F-8917-88B07CB722AF}" type="presOf" srcId="{E5AED2E2-673F-0448-926B-1D29AA0F1593}" destId="{0FD0605A-B81A-0440-AD0F-67FFF79B34F3}" srcOrd="0" destOrd="0" presId="urn:microsoft.com/office/officeart/2005/8/layout/process1"/>
    <dgm:cxn modelId="{4DDA9DBB-4790-B948-AC96-B6402E64C764}" type="presOf" srcId="{B07803FC-A8FA-1949-A674-8D1E0DB50490}" destId="{4A51A9E5-5AA1-6D48-BB79-10B97EAB5A7B}" srcOrd="0" destOrd="0" presId="urn:microsoft.com/office/officeart/2005/8/layout/process1"/>
    <dgm:cxn modelId="{7F565BBD-7546-2A46-8525-1B83CCE41FFA}" type="presOf" srcId="{EE5D5A64-D823-B849-8F1A-759AA5D0D3AC}" destId="{A7A17B4C-D51D-8C44-B78D-736080CBBF70}" srcOrd="0" destOrd="0" presId="urn:microsoft.com/office/officeart/2005/8/layout/process1"/>
    <dgm:cxn modelId="{3C7EB3CC-1D35-1B49-81D6-F54159ECE338}" type="presOf" srcId="{D8E2056A-03A3-BE46-B66A-EA4C72B43310}" destId="{0B958637-3396-9C45-AEE2-E129C82213C4}" srcOrd="0" destOrd="0" presId="urn:microsoft.com/office/officeart/2005/8/layout/process1"/>
    <dgm:cxn modelId="{0EC764DA-82A8-5840-81C0-7420FD12F488}" srcId="{23742235-4118-7645-86A2-CF71427CC406}" destId="{E5E3D420-4A75-1044-BB12-C9743636C451}" srcOrd="3" destOrd="0" parTransId="{A74E2509-478E-B142-9553-02510D87AC9B}" sibTransId="{D119184E-5ABA-C245-91DE-05ADA009DBC0}"/>
    <dgm:cxn modelId="{ACB69AB7-EDA9-C546-8EDC-7A785774F3C0}" type="presParOf" srcId="{8176D93B-FDA3-D942-A42B-AD2D2E2B0C31}" destId="{719400D6-0B44-C643-91D4-D33FCBB43DBD}" srcOrd="0" destOrd="0" presId="urn:microsoft.com/office/officeart/2005/8/layout/process1"/>
    <dgm:cxn modelId="{3E4669EB-4935-E64A-AC15-82668FC37E8D}" type="presParOf" srcId="{8176D93B-FDA3-D942-A42B-AD2D2E2B0C31}" destId="{4A51A9E5-5AA1-6D48-BB79-10B97EAB5A7B}" srcOrd="1" destOrd="0" presId="urn:microsoft.com/office/officeart/2005/8/layout/process1"/>
    <dgm:cxn modelId="{19015C3F-1C18-F04B-BFD8-19BB8B996C3E}" type="presParOf" srcId="{4A51A9E5-5AA1-6D48-BB79-10B97EAB5A7B}" destId="{51EB1357-B69C-2C47-9361-E58993A64B33}" srcOrd="0" destOrd="0" presId="urn:microsoft.com/office/officeart/2005/8/layout/process1"/>
    <dgm:cxn modelId="{536D208E-3FCC-7847-BCB1-B7AD47D27EA6}" type="presParOf" srcId="{8176D93B-FDA3-D942-A42B-AD2D2E2B0C31}" destId="{A7A17B4C-D51D-8C44-B78D-736080CBBF70}" srcOrd="2" destOrd="0" presId="urn:microsoft.com/office/officeart/2005/8/layout/process1"/>
    <dgm:cxn modelId="{7C4FA54B-06F0-4F4C-BB34-35EDDBB87174}" type="presParOf" srcId="{8176D93B-FDA3-D942-A42B-AD2D2E2B0C31}" destId="{E969AD59-D211-ED4D-94AA-2F729207DB4C}" srcOrd="3" destOrd="0" presId="urn:microsoft.com/office/officeart/2005/8/layout/process1"/>
    <dgm:cxn modelId="{A4FD1F5E-FF9F-C945-B5D1-29AA05837CFA}" type="presParOf" srcId="{E969AD59-D211-ED4D-94AA-2F729207DB4C}" destId="{A972198D-DDB3-6544-ACDD-5F1B3066509E}" srcOrd="0" destOrd="0" presId="urn:microsoft.com/office/officeart/2005/8/layout/process1"/>
    <dgm:cxn modelId="{474CD08F-B407-9E4F-A48C-07223F4161A5}" type="presParOf" srcId="{8176D93B-FDA3-D942-A42B-AD2D2E2B0C31}" destId="{0FD0605A-B81A-0440-AD0F-67FFF79B34F3}" srcOrd="4" destOrd="0" presId="urn:microsoft.com/office/officeart/2005/8/layout/process1"/>
    <dgm:cxn modelId="{EB3E644C-32F8-D248-9732-A366DD819CC7}" type="presParOf" srcId="{8176D93B-FDA3-D942-A42B-AD2D2E2B0C31}" destId="{0B958637-3396-9C45-AEE2-E129C82213C4}" srcOrd="5" destOrd="0" presId="urn:microsoft.com/office/officeart/2005/8/layout/process1"/>
    <dgm:cxn modelId="{B3E57B84-C7F0-4A41-87B0-6565512DCBD2}" type="presParOf" srcId="{0B958637-3396-9C45-AEE2-E129C82213C4}" destId="{30BE502A-5057-DF4A-9043-2EFEEDC380E4}" srcOrd="0" destOrd="0" presId="urn:microsoft.com/office/officeart/2005/8/layout/process1"/>
    <dgm:cxn modelId="{FE686BC2-596F-5C49-A325-0DD10B57B479}" type="presParOf" srcId="{8176D93B-FDA3-D942-A42B-AD2D2E2B0C31}" destId="{8AB3370F-5985-E248-AB60-489A92F432E9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21E044C-6A7A-4DB7-944F-86DC637E68B7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D516DBF-3AEC-4479-A7CB-A1A85A436589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Urgency:</a:t>
          </a:r>
          <a:r>
            <a:rPr lang="en-IN"/>
            <a:t> Strongest positive driver — customers saying </a:t>
          </a:r>
          <a:r>
            <a:rPr lang="en-IN" i="1"/>
            <a:t>“as soon as possible”</a:t>
          </a:r>
          <a:r>
            <a:rPr lang="en-IN"/>
            <a:t> are much more likely to buy.</a:t>
          </a:r>
          <a:endParaRPr lang="en-US"/>
        </a:p>
      </dgm:t>
    </dgm:pt>
    <dgm:pt modelId="{F3BD7D0C-E3CF-4722-9FF9-ADEE798B11C8}" type="parTrans" cxnId="{5978E74C-8089-4339-9F73-F27C84A49EF2}">
      <dgm:prSet/>
      <dgm:spPr/>
      <dgm:t>
        <a:bodyPr/>
        <a:lstStyle/>
        <a:p>
          <a:endParaRPr lang="en-US"/>
        </a:p>
      </dgm:t>
    </dgm:pt>
    <dgm:pt modelId="{704B42DF-2B91-4DC0-A73F-7859D4378217}" type="sibTrans" cxnId="{5978E74C-8089-4339-9F73-F27C84A49EF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D1048FE-E1B2-491A-8265-D1F4D3364978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Network &amp; Source:</a:t>
          </a:r>
          <a:r>
            <a:rPr lang="en-IN"/>
            <a:t> Not all channels are equal — Bing and Google consistently outperform social/email sources.</a:t>
          </a:r>
          <a:endParaRPr lang="en-US"/>
        </a:p>
      </dgm:t>
    </dgm:pt>
    <dgm:pt modelId="{11BF0A99-5511-49B0-A292-CF3A1AFF3BE0}" type="parTrans" cxnId="{DB8179D4-62BC-411A-A5E0-9265D0FA5115}">
      <dgm:prSet/>
      <dgm:spPr/>
      <dgm:t>
        <a:bodyPr/>
        <a:lstStyle/>
        <a:p>
          <a:endParaRPr lang="en-US"/>
        </a:p>
      </dgm:t>
    </dgm:pt>
    <dgm:pt modelId="{0CBA1AD1-35CD-4D0B-A3D5-B415C3BF9B22}" type="sibTrans" cxnId="{DB8179D4-62BC-411A-A5E0-9265D0FA511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1E9BE85-3B18-47EB-9C8B-AC307C1B19B0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Age &amp; Financial Indicators:</a:t>
          </a:r>
          <a:r>
            <a:rPr lang="en-IN"/>
            <a:t> Middle-aged to older customers with higher income/buying power are more likely to convert.</a:t>
          </a:r>
          <a:endParaRPr lang="en-US"/>
        </a:p>
      </dgm:t>
    </dgm:pt>
    <dgm:pt modelId="{E646857D-7DC3-42F7-B223-65BAD47DD284}" type="parTrans" cxnId="{5178C639-D53A-49B7-8DEB-841702062F0F}">
      <dgm:prSet/>
      <dgm:spPr/>
      <dgm:t>
        <a:bodyPr/>
        <a:lstStyle/>
        <a:p>
          <a:endParaRPr lang="en-US"/>
        </a:p>
      </dgm:t>
    </dgm:pt>
    <dgm:pt modelId="{0B2BDA3E-4107-46EE-B03A-02618547029F}" type="sibTrans" cxnId="{5178C639-D53A-49B7-8DEB-841702062F0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396A584-28D8-403F-A9E2-BBBFF1F581AF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Phone Activity &amp; Match Quality:</a:t>
          </a:r>
          <a:r>
            <a:rPr lang="en-IN"/>
            <a:t> Verified/active phone signals (e.g., INPUT_PHONE_MATCHES, phone usage) boost trust and conversion odds.</a:t>
          </a:r>
          <a:endParaRPr lang="en-US"/>
        </a:p>
      </dgm:t>
    </dgm:pt>
    <dgm:pt modelId="{DC20261D-CE46-4645-A715-8E604813B587}" type="parTrans" cxnId="{F5D41F52-5549-4F4A-BCD4-C59352AE93D5}">
      <dgm:prSet/>
      <dgm:spPr/>
      <dgm:t>
        <a:bodyPr/>
        <a:lstStyle/>
        <a:p>
          <a:endParaRPr lang="en-US"/>
        </a:p>
      </dgm:t>
    </dgm:pt>
    <dgm:pt modelId="{AA21D5B8-1D46-4DCF-8670-BD30557645EA}" type="sibTrans" cxnId="{F5D41F52-5549-4F4A-BCD4-C59352AE93D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FED38A1-4594-4E37-ACA3-EDD765ADC693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Time of Submission:</a:t>
          </a:r>
          <a:r>
            <a:rPr lang="en-IN"/>
            <a:t> Afternoon and evening submissions show higher conversion likelihood compared to morning.</a:t>
          </a:r>
          <a:endParaRPr lang="en-US"/>
        </a:p>
      </dgm:t>
    </dgm:pt>
    <dgm:pt modelId="{ACD59669-A02D-43F0-A8D5-6CD0F5A034F6}" type="parTrans" cxnId="{D1DC4D7B-2581-4F1B-93D5-951E8BA61A76}">
      <dgm:prSet/>
      <dgm:spPr/>
      <dgm:t>
        <a:bodyPr/>
        <a:lstStyle/>
        <a:p>
          <a:endParaRPr lang="en-US"/>
        </a:p>
      </dgm:t>
    </dgm:pt>
    <dgm:pt modelId="{A2CB58A3-FE2B-4F39-9E8D-BCF23681B512}" type="sibTrans" cxnId="{D1DC4D7B-2581-4F1B-93D5-951E8BA61A7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AB9A445-3EEA-4F3B-A132-C13D7A32E6BC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Unknown / Missing Values:</a:t>
          </a:r>
          <a:r>
            <a:rPr lang="en-IN"/>
            <a:t> “Unknown” or missing categories (e.g., MATCH_TYPE_Unknown) also carry signal — absence itself predicts behavior</a:t>
          </a:r>
          <a:endParaRPr lang="en-US"/>
        </a:p>
      </dgm:t>
    </dgm:pt>
    <dgm:pt modelId="{47D39C37-0DF9-4BFE-BBF8-284C7BD28F32}" type="parTrans" cxnId="{3527C51F-B3AB-4995-BA97-DFBF03578045}">
      <dgm:prSet/>
      <dgm:spPr/>
      <dgm:t>
        <a:bodyPr/>
        <a:lstStyle/>
        <a:p>
          <a:endParaRPr lang="en-US"/>
        </a:p>
      </dgm:t>
    </dgm:pt>
    <dgm:pt modelId="{A19D3ECE-F702-4B37-844F-BFD5178EAD7F}" type="sibTrans" cxnId="{3527C51F-B3AB-4995-BA97-DFBF03578045}">
      <dgm:prSet/>
      <dgm:spPr/>
      <dgm:t>
        <a:bodyPr/>
        <a:lstStyle/>
        <a:p>
          <a:endParaRPr lang="en-US"/>
        </a:p>
      </dgm:t>
    </dgm:pt>
    <dgm:pt modelId="{9BF8C170-1309-428B-AB9D-FD76799C2B28}" type="pres">
      <dgm:prSet presAssocID="{C21E044C-6A7A-4DB7-944F-86DC637E68B7}" presName="root" presStyleCnt="0">
        <dgm:presLayoutVars>
          <dgm:dir/>
          <dgm:resizeHandles val="exact"/>
        </dgm:presLayoutVars>
      </dgm:prSet>
      <dgm:spPr/>
    </dgm:pt>
    <dgm:pt modelId="{5ED9AEB8-560F-47CB-8495-913765074157}" type="pres">
      <dgm:prSet presAssocID="{C21E044C-6A7A-4DB7-944F-86DC637E68B7}" presName="container" presStyleCnt="0">
        <dgm:presLayoutVars>
          <dgm:dir/>
          <dgm:resizeHandles val="exact"/>
        </dgm:presLayoutVars>
      </dgm:prSet>
      <dgm:spPr/>
    </dgm:pt>
    <dgm:pt modelId="{25DAF4FB-3E10-4CDA-BD61-25BC7614D8C8}" type="pres">
      <dgm:prSet presAssocID="{3D516DBF-3AEC-4479-A7CB-A1A85A436589}" presName="compNode" presStyleCnt="0"/>
      <dgm:spPr/>
    </dgm:pt>
    <dgm:pt modelId="{799318C5-365F-443B-B202-60E8A94387F5}" type="pres">
      <dgm:prSet presAssocID="{3D516DBF-3AEC-4479-A7CB-A1A85A436589}" presName="iconBgRect" presStyleLbl="bgShp" presStyleIdx="0" presStyleCnt="6"/>
      <dgm:spPr/>
    </dgm:pt>
    <dgm:pt modelId="{F0AD9681-9F3D-48CA-AF9E-A25FC4E204F3}" type="pres">
      <dgm:prSet presAssocID="{3D516DBF-3AEC-4479-A7CB-A1A85A436589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gaphone"/>
        </a:ext>
      </dgm:extLst>
    </dgm:pt>
    <dgm:pt modelId="{6DEEE8A9-1CC1-4D40-B362-C827DCD91D1E}" type="pres">
      <dgm:prSet presAssocID="{3D516DBF-3AEC-4479-A7CB-A1A85A436589}" presName="spaceRect" presStyleCnt="0"/>
      <dgm:spPr/>
    </dgm:pt>
    <dgm:pt modelId="{D2F77BA7-FC94-4940-96E1-E3D13D7D2715}" type="pres">
      <dgm:prSet presAssocID="{3D516DBF-3AEC-4479-A7CB-A1A85A436589}" presName="textRect" presStyleLbl="revTx" presStyleIdx="0" presStyleCnt="6">
        <dgm:presLayoutVars>
          <dgm:chMax val="1"/>
          <dgm:chPref val="1"/>
        </dgm:presLayoutVars>
      </dgm:prSet>
      <dgm:spPr/>
    </dgm:pt>
    <dgm:pt modelId="{54CD6CD7-3696-4038-8776-889E9B33906D}" type="pres">
      <dgm:prSet presAssocID="{704B42DF-2B91-4DC0-A73F-7859D4378217}" presName="sibTrans" presStyleLbl="sibTrans2D1" presStyleIdx="0" presStyleCnt="0"/>
      <dgm:spPr/>
    </dgm:pt>
    <dgm:pt modelId="{90178722-D5C4-4145-BEB7-7C287FE6907A}" type="pres">
      <dgm:prSet presAssocID="{0D1048FE-E1B2-491A-8265-D1F4D3364978}" presName="compNode" presStyleCnt="0"/>
      <dgm:spPr/>
    </dgm:pt>
    <dgm:pt modelId="{4CC666A8-4B9C-47C3-8729-8F02F76D4992}" type="pres">
      <dgm:prSet presAssocID="{0D1048FE-E1B2-491A-8265-D1F4D3364978}" presName="iconBgRect" presStyleLbl="bgShp" presStyleIdx="1" presStyleCnt="6"/>
      <dgm:spPr/>
    </dgm:pt>
    <dgm:pt modelId="{9DB42347-BC86-4629-BD31-831C6F51BDDB}" type="pres">
      <dgm:prSet presAssocID="{0D1048FE-E1B2-491A-8265-D1F4D3364978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nnections"/>
        </a:ext>
      </dgm:extLst>
    </dgm:pt>
    <dgm:pt modelId="{3E387C97-6D6C-481F-B45F-F998E78B4115}" type="pres">
      <dgm:prSet presAssocID="{0D1048FE-E1B2-491A-8265-D1F4D3364978}" presName="spaceRect" presStyleCnt="0"/>
      <dgm:spPr/>
    </dgm:pt>
    <dgm:pt modelId="{EC9703E9-DD7A-44C8-9ED3-9697C26D94A8}" type="pres">
      <dgm:prSet presAssocID="{0D1048FE-E1B2-491A-8265-D1F4D3364978}" presName="textRect" presStyleLbl="revTx" presStyleIdx="1" presStyleCnt="6">
        <dgm:presLayoutVars>
          <dgm:chMax val="1"/>
          <dgm:chPref val="1"/>
        </dgm:presLayoutVars>
      </dgm:prSet>
      <dgm:spPr/>
    </dgm:pt>
    <dgm:pt modelId="{C042C399-F677-4C83-872A-8294207AFC90}" type="pres">
      <dgm:prSet presAssocID="{0CBA1AD1-35CD-4D0B-A3D5-B415C3BF9B22}" presName="sibTrans" presStyleLbl="sibTrans2D1" presStyleIdx="0" presStyleCnt="0"/>
      <dgm:spPr/>
    </dgm:pt>
    <dgm:pt modelId="{A8B64EB8-3D82-4CC3-A807-94392B883A21}" type="pres">
      <dgm:prSet presAssocID="{D1E9BE85-3B18-47EB-9C8B-AC307C1B19B0}" presName="compNode" presStyleCnt="0"/>
      <dgm:spPr/>
    </dgm:pt>
    <dgm:pt modelId="{D44F9F41-8D56-49F8-A91B-A8AB2C2185E1}" type="pres">
      <dgm:prSet presAssocID="{D1E9BE85-3B18-47EB-9C8B-AC307C1B19B0}" presName="iconBgRect" presStyleLbl="bgShp" presStyleIdx="2" presStyleCnt="6"/>
      <dgm:spPr/>
    </dgm:pt>
    <dgm:pt modelId="{CC6E5983-85A7-4BCD-8604-3FE6376A5CDB}" type="pres">
      <dgm:prSet presAssocID="{D1E9BE85-3B18-47EB-9C8B-AC307C1B19B0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erson with Cane"/>
        </a:ext>
      </dgm:extLst>
    </dgm:pt>
    <dgm:pt modelId="{62967FD1-5A4D-4A50-8267-8229C00FE6AE}" type="pres">
      <dgm:prSet presAssocID="{D1E9BE85-3B18-47EB-9C8B-AC307C1B19B0}" presName="spaceRect" presStyleCnt="0"/>
      <dgm:spPr/>
    </dgm:pt>
    <dgm:pt modelId="{254C2C7D-F5CB-4E77-A590-50E1086FA203}" type="pres">
      <dgm:prSet presAssocID="{D1E9BE85-3B18-47EB-9C8B-AC307C1B19B0}" presName="textRect" presStyleLbl="revTx" presStyleIdx="2" presStyleCnt="6">
        <dgm:presLayoutVars>
          <dgm:chMax val="1"/>
          <dgm:chPref val="1"/>
        </dgm:presLayoutVars>
      </dgm:prSet>
      <dgm:spPr/>
    </dgm:pt>
    <dgm:pt modelId="{DB798D3A-DB67-44EC-8AF0-6D4D66873A72}" type="pres">
      <dgm:prSet presAssocID="{0B2BDA3E-4107-46EE-B03A-02618547029F}" presName="sibTrans" presStyleLbl="sibTrans2D1" presStyleIdx="0" presStyleCnt="0"/>
      <dgm:spPr/>
    </dgm:pt>
    <dgm:pt modelId="{9F83DA9F-DE11-4113-9595-842CA86237E6}" type="pres">
      <dgm:prSet presAssocID="{2396A584-28D8-403F-A9E2-BBBFF1F581AF}" presName="compNode" presStyleCnt="0"/>
      <dgm:spPr/>
    </dgm:pt>
    <dgm:pt modelId="{F0236801-DD07-4668-951D-8D278F65D710}" type="pres">
      <dgm:prSet presAssocID="{2396A584-28D8-403F-A9E2-BBBFF1F581AF}" presName="iconBgRect" presStyleLbl="bgShp" presStyleIdx="3" presStyleCnt="6"/>
      <dgm:spPr/>
    </dgm:pt>
    <dgm:pt modelId="{F2276442-1073-44EC-B973-55C5AF01FA3A}" type="pres">
      <dgm:prSet presAssocID="{2396A584-28D8-403F-A9E2-BBBFF1F581AF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peaker Phone"/>
        </a:ext>
      </dgm:extLst>
    </dgm:pt>
    <dgm:pt modelId="{A6ABE6C9-F1B1-45C7-8A1D-0AC4EF327D99}" type="pres">
      <dgm:prSet presAssocID="{2396A584-28D8-403F-A9E2-BBBFF1F581AF}" presName="spaceRect" presStyleCnt="0"/>
      <dgm:spPr/>
    </dgm:pt>
    <dgm:pt modelId="{F8BD242B-9927-45AB-9A4A-D1D38AAE4328}" type="pres">
      <dgm:prSet presAssocID="{2396A584-28D8-403F-A9E2-BBBFF1F581AF}" presName="textRect" presStyleLbl="revTx" presStyleIdx="3" presStyleCnt="6">
        <dgm:presLayoutVars>
          <dgm:chMax val="1"/>
          <dgm:chPref val="1"/>
        </dgm:presLayoutVars>
      </dgm:prSet>
      <dgm:spPr/>
    </dgm:pt>
    <dgm:pt modelId="{A2C74755-9572-4089-9FD7-AB4BF4581F71}" type="pres">
      <dgm:prSet presAssocID="{AA21D5B8-1D46-4DCF-8670-BD30557645EA}" presName="sibTrans" presStyleLbl="sibTrans2D1" presStyleIdx="0" presStyleCnt="0"/>
      <dgm:spPr/>
    </dgm:pt>
    <dgm:pt modelId="{3A9CE2DE-EB50-46D6-AA19-4F95431DCBFA}" type="pres">
      <dgm:prSet presAssocID="{AFED38A1-4594-4E37-ACA3-EDD765ADC693}" presName="compNode" presStyleCnt="0"/>
      <dgm:spPr/>
    </dgm:pt>
    <dgm:pt modelId="{B3B97BB8-6125-4545-A9CE-A2B7E1C3C63A}" type="pres">
      <dgm:prSet presAssocID="{AFED38A1-4594-4E37-ACA3-EDD765ADC693}" presName="iconBgRect" presStyleLbl="bgShp" presStyleIdx="4" presStyleCnt="6"/>
      <dgm:spPr/>
    </dgm:pt>
    <dgm:pt modelId="{603B55F8-51CD-43C6-9C90-CDBDD24C1886}" type="pres">
      <dgm:prSet presAssocID="{AFED38A1-4594-4E37-ACA3-EDD765ADC693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33A4DAA9-69A2-4661-B7D6-75D15D8FACA3}" type="pres">
      <dgm:prSet presAssocID="{AFED38A1-4594-4E37-ACA3-EDD765ADC693}" presName="spaceRect" presStyleCnt="0"/>
      <dgm:spPr/>
    </dgm:pt>
    <dgm:pt modelId="{44D39131-7FC2-48A5-8FDE-70CBF616EF3F}" type="pres">
      <dgm:prSet presAssocID="{AFED38A1-4594-4E37-ACA3-EDD765ADC693}" presName="textRect" presStyleLbl="revTx" presStyleIdx="4" presStyleCnt="6">
        <dgm:presLayoutVars>
          <dgm:chMax val="1"/>
          <dgm:chPref val="1"/>
        </dgm:presLayoutVars>
      </dgm:prSet>
      <dgm:spPr/>
    </dgm:pt>
    <dgm:pt modelId="{93E0DE49-95AC-4408-8953-995539D9526A}" type="pres">
      <dgm:prSet presAssocID="{A2CB58A3-FE2B-4F39-9E8D-BCF23681B512}" presName="sibTrans" presStyleLbl="sibTrans2D1" presStyleIdx="0" presStyleCnt="0"/>
      <dgm:spPr/>
    </dgm:pt>
    <dgm:pt modelId="{038D6684-74DA-430B-96E2-843E71B0CE91}" type="pres">
      <dgm:prSet presAssocID="{FAB9A445-3EEA-4F3B-A132-C13D7A32E6BC}" presName="compNode" presStyleCnt="0"/>
      <dgm:spPr/>
    </dgm:pt>
    <dgm:pt modelId="{9ACC5002-FFC6-480F-8F2E-0B646586D6F9}" type="pres">
      <dgm:prSet presAssocID="{FAB9A445-3EEA-4F3B-A132-C13D7A32E6BC}" presName="iconBgRect" presStyleLbl="bgShp" presStyleIdx="5" presStyleCnt="6"/>
      <dgm:spPr/>
    </dgm:pt>
    <dgm:pt modelId="{ABA90683-B0AE-4AD0-9FAC-4BC9E9866DF4}" type="pres">
      <dgm:prSet presAssocID="{FAB9A445-3EEA-4F3B-A132-C13D7A32E6BC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D968D23A-4EF0-4A77-AF23-D3B09F86F9EB}" type="pres">
      <dgm:prSet presAssocID="{FAB9A445-3EEA-4F3B-A132-C13D7A32E6BC}" presName="spaceRect" presStyleCnt="0"/>
      <dgm:spPr/>
    </dgm:pt>
    <dgm:pt modelId="{995E05B4-4F8E-4BD1-A775-CAB12711A01C}" type="pres">
      <dgm:prSet presAssocID="{FAB9A445-3EEA-4F3B-A132-C13D7A32E6BC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C654FF19-C2BE-4138-B703-BFC59D2C0431}" type="presOf" srcId="{A2CB58A3-FE2B-4F39-9E8D-BCF23681B512}" destId="{93E0DE49-95AC-4408-8953-995539D9526A}" srcOrd="0" destOrd="0" presId="urn:microsoft.com/office/officeart/2018/2/layout/IconCircleList"/>
    <dgm:cxn modelId="{3527C51F-B3AB-4995-BA97-DFBF03578045}" srcId="{C21E044C-6A7A-4DB7-944F-86DC637E68B7}" destId="{FAB9A445-3EEA-4F3B-A132-C13D7A32E6BC}" srcOrd="5" destOrd="0" parTransId="{47D39C37-0DF9-4BFE-BBF8-284C7BD28F32}" sibTransId="{A19D3ECE-F702-4B37-844F-BFD5178EAD7F}"/>
    <dgm:cxn modelId="{B15F2037-F8E6-4408-92BA-D7F3173B7B83}" type="presOf" srcId="{2396A584-28D8-403F-A9E2-BBBFF1F581AF}" destId="{F8BD242B-9927-45AB-9A4A-D1D38AAE4328}" srcOrd="0" destOrd="0" presId="urn:microsoft.com/office/officeart/2018/2/layout/IconCircleList"/>
    <dgm:cxn modelId="{5178C639-D53A-49B7-8DEB-841702062F0F}" srcId="{C21E044C-6A7A-4DB7-944F-86DC637E68B7}" destId="{D1E9BE85-3B18-47EB-9C8B-AC307C1B19B0}" srcOrd="2" destOrd="0" parTransId="{E646857D-7DC3-42F7-B223-65BAD47DD284}" sibTransId="{0B2BDA3E-4107-46EE-B03A-02618547029F}"/>
    <dgm:cxn modelId="{91B55F3D-82B2-43C0-8318-097495438A04}" type="presOf" srcId="{0B2BDA3E-4107-46EE-B03A-02618547029F}" destId="{DB798D3A-DB67-44EC-8AF0-6D4D66873A72}" srcOrd="0" destOrd="0" presId="urn:microsoft.com/office/officeart/2018/2/layout/IconCircleList"/>
    <dgm:cxn modelId="{4DC1FB47-0CBA-4D7C-9F12-8914EA3DD3CC}" type="presOf" srcId="{AA21D5B8-1D46-4DCF-8670-BD30557645EA}" destId="{A2C74755-9572-4089-9FD7-AB4BF4581F71}" srcOrd="0" destOrd="0" presId="urn:microsoft.com/office/officeart/2018/2/layout/IconCircleList"/>
    <dgm:cxn modelId="{5978E74C-8089-4339-9F73-F27C84A49EF2}" srcId="{C21E044C-6A7A-4DB7-944F-86DC637E68B7}" destId="{3D516DBF-3AEC-4479-A7CB-A1A85A436589}" srcOrd="0" destOrd="0" parTransId="{F3BD7D0C-E3CF-4722-9FF9-ADEE798B11C8}" sibTransId="{704B42DF-2B91-4DC0-A73F-7859D4378217}"/>
    <dgm:cxn modelId="{F5D41F52-5549-4F4A-BCD4-C59352AE93D5}" srcId="{C21E044C-6A7A-4DB7-944F-86DC637E68B7}" destId="{2396A584-28D8-403F-A9E2-BBBFF1F581AF}" srcOrd="3" destOrd="0" parTransId="{DC20261D-CE46-4645-A715-8E604813B587}" sibTransId="{AA21D5B8-1D46-4DCF-8670-BD30557645EA}"/>
    <dgm:cxn modelId="{D1DC4D7B-2581-4F1B-93D5-951E8BA61A76}" srcId="{C21E044C-6A7A-4DB7-944F-86DC637E68B7}" destId="{AFED38A1-4594-4E37-ACA3-EDD765ADC693}" srcOrd="4" destOrd="0" parTransId="{ACD59669-A02D-43F0-A8D5-6CD0F5A034F6}" sibTransId="{A2CB58A3-FE2B-4F39-9E8D-BCF23681B512}"/>
    <dgm:cxn modelId="{6DD1857D-BFD4-4494-A396-4F370AFEC81E}" type="presOf" srcId="{AFED38A1-4594-4E37-ACA3-EDD765ADC693}" destId="{44D39131-7FC2-48A5-8FDE-70CBF616EF3F}" srcOrd="0" destOrd="0" presId="urn:microsoft.com/office/officeart/2018/2/layout/IconCircleList"/>
    <dgm:cxn modelId="{DE4B3CA7-30C6-445D-8DB3-29ABD535CBD0}" type="presOf" srcId="{3D516DBF-3AEC-4479-A7CB-A1A85A436589}" destId="{D2F77BA7-FC94-4940-96E1-E3D13D7D2715}" srcOrd="0" destOrd="0" presId="urn:microsoft.com/office/officeart/2018/2/layout/IconCircleList"/>
    <dgm:cxn modelId="{7C6290BC-56D2-4AAF-B06B-05D8CC978818}" type="presOf" srcId="{FAB9A445-3EEA-4F3B-A132-C13D7A32E6BC}" destId="{995E05B4-4F8E-4BD1-A775-CAB12711A01C}" srcOrd="0" destOrd="0" presId="urn:microsoft.com/office/officeart/2018/2/layout/IconCircleList"/>
    <dgm:cxn modelId="{5E8BB8C1-D473-411B-B9A5-F90C71B51184}" type="presOf" srcId="{0CBA1AD1-35CD-4D0B-A3D5-B415C3BF9B22}" destId="{C042C399-F677-4C83-872A-8294207AFC90}" srcOrd="0" destOrd="0" presId="urn:microsoft.com/office/officeart/2018/2/layout/IconCircleList"/>
    <dgm:cxn modelId="{7403E0CF-8692-4967-B253-3FFDD29E577C}" type="presOf" srcId="{C21E044C-6A7A-4DB7-944F-86DC637E68B7}" destId="{9BF8C170-1309-428B-AB9D-FD76799C2B28}" srcOrd="0" destOrd="0" presId="urn:microsoft.com/office/officeart/2018/2/layout/IconCircleList"/>
    <dgm:cxn modelId="{DB8179D4-62BC-411A-A5E0-9265D0FA5115}" srcId="{C21E044C-6A7A-4DB7-944F-86DC637E68B7}" destId="{0D1048FE-E1B2-491A-8265-D1F4D3364978}" srcOrd="1" destOrd="0" parTransId="{11BF0A99-5511-49B0-A292-CF3A1AFF3BE0}" sibTransId="{0CBA1AD1-35CD-4D0B-A3D5-B415C3BF9B22}"/>
    <dgm:cxn modelId="{AA417FE6-72DC-42FD-9254-DBEB938C35D4}" type="presOf" srcId="{0D1048FE-E1B2-491A-8265-D1F4D3364978}" destId="{EC9703E9-DD7A-44C8-9ED3-9697C26D94A8}" srcOrd="0" destOrd="0" presId="urn:microsoft.com/office/officeart/2018/2/layout/IconCircleList"/>
    <dgm:cxn modelId="{30A9A9EE-6E58-4A8B-813F-09520394F12E}" type="presOf" srcId="{704B42DF-2B91-4DC0-A73F-7859D4378217}" destId="{54CD6CD7-3696-4038-8776-889E9B33906D}" srcOrd="0" destOrd="0" presId="urn:microsoft.com/office/officeart/2018/2/layout/IconCircleList"/>
    <dgm:cxn modelId="{294276FC-68C4-4E79-8963-45557F24FFC6}" type="presOf" srcId="{D1E9BE85-3B18-47EB-9C8B-AC307C1B19B0}" destId="{254C2C7D-F5CB-4E77-A590-50E1086FA203}" srcOrd="0" destOrd="0" presId="urn:microsoft.com/office/officeart/2018/2/layout/IconCircleList"/>
    <dgm:cxn modelId="{0352AB73-47D1-4BBB-B207-565FD7C16B2D}" type="presParOf" srcId="{9BF8C170-1309-428B-AB9D-FD76799C2B28}" destId="{5ED9AEB8-560F-47CB-8495-913765074157}" srcOrd="0" destOrd="0" presId="urn:microsoft.com/office/officeart/2018/2/layout/IconCircleList"/>
    <dgm:cxn modelId="{ACF90402-061A-4BCC-B3AA-A46F98AA9F89}" type="presParOf" srcId="{5ED9AEB8-560F-47CB-8495-913765074157}" destId="{25DAF4FB-3E10-4CDA-BD61-25BC7614D8C8}" srcOrd="0" destOrd="0" presId="urn:microsoft.com/office/officeart/2018/2/layout/IconCircleList"/>
    <dgm:cxn modelId="{E5EBFE4B-8DFB-4BC8-A1FF-E8F3D82AA30F}" type="presParOf" srcId="{25DAF4FB-3E10-4CDA-BD61-25BC7614D8C8}" destId="{799318C5-365F-443B-B202-60E8A94387F5}" srcOrd="0" destOrd="0" presId="urn:microsoft.com/office/officeart/2018/2/layout/IconCircleList"/>
    <dgm:cxn modelId="{8DFDAE21-C795-442D-918B-1206363B3DF5}" type="presParOf" srcId="{25DAF4FB-3E10-4CDA-BD61-25BC7614D8C8}" destId="{F0AD9681-9F3D-48CA-AF9E-A25FC4E204F3}" srcOrd="1" destOrd="0" presId="urn:microsoft.com/office/officeart/2018/2/layout/IconCircleList"/>
    <dgm:cxn modelId="{21E9D004-724E-4527-AD21-D7F35FC0C858}" type="presParOf" srcId="{25DAF4FB-3E10-4CDA-BD61-25BC7614D8C8}" destId="{6DEEE8A9-1CC1-4D40-B362-C827DCD91D1E}" srcOrd="2" destOrd="0" presId="urn:microsoft.com/office/officeart/2018/2/layout/IconCircleList"/>
    <dgm:cxn modelId="{B042D71A-E0DF-4D5B-964F-F7A530A979B4}" type="presParOf" srcId="{25DAF4FB-3E10-4CDA-BD61-25BC7614D8C8}" destId="{D2F77BA7-FC94-4940-96E1-E3D13D7D2715}" srcOrd="3" destOrd="0" presId="urn:microsoft.com/office/officeart/2018/2/layout/IconCircleList"/>
    <dgm:cxn modelId="{981D4FA6-5C7D-4E9F-8C9B-229A60DA1C76}" type="presParOf" srcId="{5ED9AEB8-560F-47CB-8495-913765074157}" destId="{54CD6CD7-3696-4038-8776-889E9B33906D}" srcOrd="1" destOrd="0" presId="urn:microsoft.com/office/officeart/2018/2/layout/IconCircleList"/>
    <dgm:cxn modelId="{66399EF7-FA48-4F18-874D-6A1642DC8F66}" type="presParOf" srcId="{5ED9AEB8-560F-47CB-8495-913765074157}" destId="{90178722-D5C4-4145-BEB7-7C287FE6907A}" srcOrd="2" destOrd="0" presId="urn:microsoft.com/office/officeart/2018/2/layout/IconCircleList"/>
    <dgm:cxn modelId="{2F2B4C0B-029B-4C40-B781-12C96FE43362}" type="presParOf" srcId="{90178722-D5C4-4145-BEB7-7C287FE6907A}" destId="{4CC666A8-4B9C-47C3-8729-8F02F76D4992}" srcOrd="0" destOrd="0" presId="urn:microsoft.com/office/officeart/2018/2/layout/IconCircleList"/>
    <dgm:cxn modelId="{D4D2D033-4E8E-472C-A41B-7A21599EDAF8}" type="presParOf" srcId="{90178722-D5C4-4145-BEB7-7C287FE6907A}" destId="{9DB42347-BC86-4629-BD31-831C6F51BDDB}" srcOrd="1" destOrd="0" presId="urn:microsoft.com/office/officeart/2018/2/layout/IconCircleList"/>
    <dgm:cxn modelId="{BDFA7384-9008-4A1C-9B83-223690261E50}" type="presParOf" srcId="{90178722-D5C4-4145-BEB7-7C287FE6907A}" destId="{3E387C97-6D6C-481F-B45F-F998E78B4115}" srcOrd="2" destOrd="0" presId="urn:microsoft.com/office/officeart/2018/2/layout/IconCircleList"/>
    <dgm:cxn modelId="{C325EFFF-5D52-4FA3-95A4-48AC332F92C3}" type="presParOf" srcId="{90178722-D5C4-4145-BEB7-7C287FE6907A}" destId="{EC9703E9-DD7A-44C8-9ED3-9697C26D94A8}" srcOrd="3" destOrd="0" presId="urn:microsoft.com/office/officeart/2018/2/layout/IconCircleList"/>
    <dgm:cxn modelId="{79DC5C71-B799-49BA-89DA-1EC89429199E}" type="presParOf" srcId="{5ED9AEB8-560F-47CB-8495-913765074157}" destId="{C042C399-F677-4C83-872A-8294207AFC90}" srcOrd="3" destOrd="0" presId="urn:microsoft.com/office/officeart/2018/2/layout/IconCircleList"/>
    <dgm:cxn modelId="{B4A2F7A9-4946-4AB4-8D25-1A49A28867E0}" type="presParOf" srcId="{5ED9AEB8-560F-47CB-8495-913765074157}" destId="{A8B64EB8-3D82-4CC3-A807-94392B883A21}" srcOrd="4" destOrd="0" presId="urn:microsoft.com/office/officeart/2018/2/layout/IconCircleList"/>
    <dgm:cxn modelId="{994E0606-2AD8-40BF-8545-71C79A3D0BC2}" type="presParOf" srcId="{A8B64EB8-3D82-4CC3-A807-94392B883A21}" destId="{D44F9F41-8D56-49F8-A91B-A8AB2C2185E1}" srcOrd="0" destOrd="0" presId="urn:microsoft.com/office/officeart/2018/2/layout/IconCircleList"/>
    <dgm:cxn modelId="{723AF84D-7870-45B9-8CD4-3EFED145B16E}" type="presParOf" srcId="{A8B64EB8-3D82-4CC3-A807-94392B883A21}" destId="{CC6E5983-85A7-4BCD-8604-3FE6376A5CDB}" srcOrd="1" destOrd="0" presId="urn:microsoft.com/office/officeart/2018/2/layout/IconCircleList"/>
    <dgm:cxn modelId="{CFBB225C-6D7E-4BCE-AB75-5C81E8ACDF5B}" type="presParOf" srcId="{A8B64EB8-3D82-4CC3-A807-94392B883A21}" destId="{62967FD1-5A4D-4A50-8267-8229C00FE6AE}" srcOrd="2" destOrd="0" presId="urn:microsoft.com/office/officeart/2018/2/layout/IconCircleList"/>
    <dgm:cxn modelId="{8D2417D7-AAE4-4568-B693-5BCF7E4311D7}" type="presParOf" srcId="{A8B64EB8-3D82-4CC3-A807-94392B883A21}" destId="{254C2C7D-F5CB-4E77-A590-50E1086FA203}" srcOrd="3" destOrd="0" presId="urn:microsoft.com/office/officeart/2018/2/layout/IconCircleList"/>
    <dgm:cxn modelId="{8AB07BAF-FD33-41B5-B1AF-B2072E8D0249}" type="presParOf" srcId="{5ED9AEB8-560F-47CB-8495-913765074157}" destId="{DB798D3A-DB67-44EC-8AF0-6D4D66873A72}" srcOrd="5" destOrd="0" presId="urn:microsoft.com/office/officeart/2018/2/layout/IconCircleList"/>
    <dgm:cxn modelId="{6B82A935-CE91-4E45-8F55-80BF80EBB16B}" type="presParOf" srcId="{5ED9AEB8-560F-47CB-8495-913765074157}" destId="{9F83DA9F-DE11-4113-9595-842CA86237E6}" srcOrd="6" destOrd="0" presId="urn:microsoft.com/office/officeart/2018/2/layout/IconCircleList"/>
    <dgm:cxn modelId="{8DE19E3B-C223-4EF3-953A-A1C9A9A436D8}" type="presParOf" srcId="{9F83DA9F-DE11-4113-9595-842CA86237E6}" destId="{F0236801-DD07-4668-951D-8D278F65D710}" srcOrd="0" destOrd="0" presId="urn:microsoft.com/office/officeart/2018/2/layout/IconCircleList"/>
    <dgm:cxn modelId="{C8E445EF-6BD9-4416-BF5D-AAF852B52EC6}" type="presParOf" srcId="{9F83DA9F-DE11-4113-9595-842CA86237E6}" destId="{F2276442-1073-44EC-B973-55C5AF01FA3A}" srcOrd="1" destOrd="0" presId="urn:microsoft.com/office/officeart/2018/2/layout/IconCircleList"/>
    <dgm:cxn modelId="{09D43A8B-D28F-4F8F-AB67-BC471C355019}" type="presParOf" srcId="{9F83DA9F-DE11-4113-9595-842CA86237E6}" destId="{A6ABE6C9-F1B1-45C7-8A1D-0AC4EF327D99}" srcOrd="2" destOrd="0" presId="urn:microsoft.com/office/officeart/2018/2/layout/IconCircleList"/>
    <dgm:cxn modelId="{08F3375D-93EC-4065-AD30-17E6FB3574B1}" type="presParOf" srcId="{9F83DA9F-DE11-4113-9595-842CA86237E6}" destId="{F8BD242B-9927-45AB-9A4A-D1D38AAE4328}" srcOrd="3" destOrd="0" presId="urn:microsoft.com/office/officeart/2018/2/layout/IconCircleList"/>
    <dgm:cxn modelId="{A6D80C36-E386-401A-929A-570FDA9175E2}" type="presParOf" srcId="{5ED9AEB8-560F-47CB-8495-913765074157}" destId="{A2C74755-9572-4089-9FD7-AB4BF4581F71}" srcOrd="7" destOrd="0" presId="urn:microsoft.com/office/officeart/2018/2/layout/IconCircleList"/>
    <dgm:cxn modelId="{3155CE77-E699-4D73-AD04-F7F992C67C8F}" type="presParOf" srcId="{5ED9AEB8-560F-47CB-8495-913765074157}" destId="{3A9CE2DE-EB50-46D6-AA19-4F95431DCBFA}" srcOrd="8" destOrd="0" presId="urn:microsoft.com/office/officeart/2018/2/layout/IconCircleList"/>
    <dgm:cxn modelId="{B824085A-2404-4072-A1C3-AEBB39DCCB15}" type="presParOf" srcId="{3A9CE2DE-EB50-46D6-AA19-4F95431DCBFA}" destId="{B3B97BB8-6125-4545-A9CE-A2B7E1C3C63A}" srcOrd="0" destOrd="0" presId="urn:microsoft.com/office/officeart/2018/2/layout/IconCircleList"/>
    <dgm:cxn modelId="{351EA374-E942-4372-84D8-D1624296FD69}" type="presParOf" srcId="{3A9CE2DE-EB50-46D6-AA19-4F95431DCBFA}" destId="{603B55F8-51CD-43C6-9C90-CDBDD24C1886}" srcOrd="1" destOrd="0" presId="urn:microsoft.com/office/officeart/2018/2/layout/IconCircleList"/>
    <dgm:cxn modelId="{5E1EEAB4-0A79-4E62-9BA4-AD114CA6A2BB}" type="presParOf" srcId="{3A9CE2DE-EB50-46D6-AA19-4F95431DCBFA}" destId="{33A4DAA9-69A2-4661-B7D6-75D15D8FACA3}" srcOrd="2" destOrd="0" presId="urn:microsoft.com/office/officeart/2018/2/layout/IconCircleList"/>
    <dgm:cxn modelId="{9CD5DA2A-85ED-4035-835A-89FDDC383694}" type="presParOf" srcId="{3A9CE2DE-EB50-46D6-AA19-4F95431DCBFA}" destId="{44D39131-7FC2-48A5-8FDE-70CBF616EF3F}" srcOrd="3" destOrd="0" presId="urn:microsoft.com/office/officeart/2018/2/layout/IconCircleList"/>
    <dgm:cxn modelId="{0573347F-00AE-4089-B200-7F593A29998A}" type="presParOf" srcId="{5ED9AEB8-560F-47CB-8495-913765074157}" destId="{93E0DE49-95AC-4408-8953-995539D9526A}" srcOrd="9" destOrd="0" presId="urn:microsoft.com/office/officeart/2018/2/layout/IconCircleList"/>
    <dgm:cxn modelId="{420D3F75-C28F-4041-B782-998A87F52C46}" type="presParOf" srcId="{5ED9AEB8-560F-47CB-8495-913765074157}" destId="{038D6684-74DA-430B-96E2-843E71B0CE91}" srcOrd="10" destOrd="0" presId="urn:microsoft.com/office/officeart/2018/2/layout/IconCircleList"/>
    <dgm:cxn modelId="{6072E94D-3888-4900-8D27-51A6B15E4CB4}" type="presParOf" srcId="{038D6684-74DA-430B-96E2-843E71B0CE91}" destId="{9ACC5002-FFC6-480F-8F2E-0B646586D6F9}" srcOrd="0" destOrd="0" presId="urn:microsoft.com/office/officeart/2018/2/layout/IconCircleList"/>
    <dgm:cxn modelId="{8C6F3400-B689-4AA9-8563-883E16BF88C3}" type="presParOf" srcId="{038D6684-74DA-430B-96E2-843E71B0CE91}" destId="{ABA90683-B0AE-4AD0-9FAC-4BC9E9866DF4}" srcOrd="1" destOrd="0" presId="urn:microsoft.com/office/officeart/2018/2/layout/IconCircleList"/>
    <dgm:cxn modelId="{8EA26B3A-4DD8-43F2-8DA3-71EE45BA9270}" type="presParOf" srcId="{038D6684-74DA-430B-96E2-843E71B0CE91}" destId="{D968D23A-4EF0-4A77-AF23-D3B09F86F9EB}" srcOrd="2" destOrd="0" presId="urn:microsoft.com/office/officeart/2018/2/layout/IconCircleList"/>
    <dgm:cxn modelId="{B5503A83-518A-4EDB-B1CC-247E0618E907}" type="presParOf" srcId="{038D6684-74DA-430B-96E2-843E71B0CE91}" destId="{995E05B4-4F8E-4BD1-A775-CAB12711A01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9400D6-0B44-C643-91D4-D33FCBB43DBD}">
      <dsp:nvSpPr>
        <dsp:cNvPr id="0" name=""/>
        <dsp:cNvSpPr/>
      </dsp:nvSpPr>
      <dsp:spPr>
        <a:xfrm>
          <a:off x="3476" y="0"/>
          <a:ext cx="1520220" cy="20121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IN" sz="1800" b="1" kern="1200" dirty="0"/>
            <a:t>Problem</a:t>
          </a:r>
          <a:r>
            <a:rPr lang="en-IN" sz="1800" kern="1200" dirty="0"/>
            <a:t> (Low conversion rate, many leads, limited sales bandwidth)</a:t>
          </a:r>
          <a:endParaRPr lang="en-GB" sz="1800" kern="1200" dirty="0"/>
        </a:p>
      </dsp:txBody>
      <dsp:txXfrm>
        <a:off x="48002" y="44526"/>
        <a:ext cx="1431168" cy="1923052"/>
      </dsp:txXfrm>
    </dsp:sp>
    <dsp:sp modelId="{4A51A9E5-5AA1-6D48-BB79-10B97EAB5A7B}">
      <dsp:nvSpPr>
        <dsp:cNvPr id="0" name=""/>
        <dsp:cNvSpPr/>
      </dsp:nvSpPr>
      <dsp:spPr>
        <a:xfrm>
          <a:off x="1675719" y="817544"/>
          <a:ext cx="322286" cy="3770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400" kern="1200"/>
        </a:p>
      </dsp:txBody>
      <dsp:txXfrm>
        <a:off x="1675719" y="892947"/>
        <a:ext cx="225600" cy="226208"/>
      </dsp:txXfrm>
    </dsp:sp>
    <dsp:sp modelId="{A7A17B4C-D51D-8C44-B78D-736080CBBF70}">
      <dsp:nvSpPr>
        <dsp:cNvPr id="0" name=""/>
        <dsp:cNvSpPr/>
      </dsp:nvSpPr>
      <dsp:spPr>
        <a:xfrm>
          <a:off x="2131785" y="0"/>
          <a:ext cx="1520220" cy="20121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IN" sz="1800" b="1" kern="1200" dirty="0"/>
            <a:t>Approach</a:t>
          </a:r>
          <a:r>
            <a:rPr lang="en-IN" sz="1800" kern="1200" dirty="0"/>
            <a:t> (Data cleaning, feature engineering, ML models)</a:t>
          </a:r>
          <a:endParaRPr lang="en-GB" sz="1800" kern="1200" dirty="0"/>
        </a:p>
      </dsp:txBody>
      <dsp:txXfrm>
        <a:off x="2176311" y="44526"/>
        <a:ext cx="1431168" cy="1923052"/>
      </dsp:txXfrm>
    </dsp:sp>
    <dsp:sp modelId="{E969AD59-D211-ED4D-94AA-2F729207DB4C}">
      <dsp:nvSpPr>
        <dsp:cNvPr id="0" name=""/>
        <dsp:cNvSpPr/>
      </dsp:nvSpPr>
      <dsp:spPr>
        <a:xfrm>
          <a:off x="3804027" y="817544"/>
          <a:ext cx="322286" cy="3770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400" kern="1200"/>
        </a:p>
      </dsp:txBody>
      <dsp:txXfrm>
        <a:off x="3804027" y="892947"/>
        <a:ext cx="225600" cy="226208"/>
      </dsp:txXfrm>
    </dsp:sp>
    <dsp:sp modelId="{0FD0605A-B81A-0440-AD0F-67FFF79B34F3}">
      <dsp:nvSpPr>
        <dsp:cNvPr id="0" name=""/>
        <dsp:cNvSpPr/>
      </dsp:nvSpPr>
      <dsp:spPr>
        <a:xfrm>
          <a:off x="4260094" y="0"/>
          <a:ext cx="1520220" cy="20121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IN" sz="1800" b="1" kern="1200" dirty="0"/>
            <a:t>Output</a:t>
          </a:r>
          <a:r>
            <a:rPr lang="en-IN" sz="1800" kern="1200" dirty="0"/>
            <a:t> (Lead scores)</a:t>
          </a:r>
          <a:endParaRPr lang="en-GB" sz="1800" kern="1200" dirty="0"/>
        </a:p>
      </dsp:txBody>
      <dsp:txXfrm>
        <a:off x="4304620" y="44526"/>
        <a:ext cx="1431168" cy="1923052"/>
      </dsp:txXfrm>
    </dsp:sp>
    <dsp:sp modelId="{0B958637-3396-9C45-AEE2-E129C82213C4}">
      <dsp:nvSpPr>
        <dsp:cNvPr id="0" name=""/>
        <dsp:cNvSpPr/>
      </dsp:nvSpPr>
      <dsp:spPr>
        <a:xfrm>
          <a:off x="5932336" y="817544"/>
          <a:ext cx="322286" cy="3770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400" kern="1200"/>
        </a:p>
      </dsp:txBody>
      <dsp:txXfrm>
        <a:off x="5932336" y="892947"/>
        <a:ext cx="225600" cy="226208"/>
      </dsp:txXfrm>
    </dsp:sp>
    <dsp:sp modelId="{8AB3370F-5985-E248-AB60-489A92F432E9}">
      <dsp:nvSpPr>
        <dsp:cNvPr id="0" name=""/>
        <dsp:cNvSpPr/>
      </dsp:nvSpPr>
      <dsp:spPr>
        <a:xfrm>
          <a:off x="6388402" y="0"/>
          <a:ext cx="1520220" cy="20121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Action</a:t>
          </a:r>
        </a:p>
      </dsp:txBody>
      <dsp:txXfrm>
        <a:off x="6432928" y="44526"/>
        <a:ext cx="1431168" cy="19230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9318C5-365F-443B-B202-60E8A94387F5}">
      <dsp:nvSpPr>
        <dsp:cNvPr id="0" name=""/>
        <dsp:cNvSpPr/>
      </dsp:nvSpPr>
      <dsp:spPr>
        <a:xfrm>
          <a:off x="82613" y="908559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AD9681-9F3D-48CA-AF9E-A25FC4E204F3}">
      <dsp:nvSpPr>
        <dsp:cNvPr id="0" name=""/>
        <dsp:cNvSpPr/>
      </dsp:nvSpPr>
      <dsp:spPr>
        <a:xfrm>
          <a:off x="271034" y="1096980"/>
          <a:ext cx="520402" cy="520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F77BA7-FC94-4940-96E1-E3D13D7D2715}">
      <dsp:nvSpPr>
        <dsp:cNvPr id="0" name=""/>
        <dsp:cNvSpPr/>
      </dsp:nvSpPr>
      <dsp:spPr>
        <a:xfrm>
          <a:off x="1172126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Urgency:</a:t>
          </a:r>
          <a:r>
            <a:rPr lang="en-IN" sz="1100" kern="1200"/>
            <a:t> Strongest positive driver — customers saying </a:t>
          </a:r>
          <a:r>
            <a:rPr lang="en-IN" sz="1100" i="1" kern="1200"/>
            <a:t>“as soon as possible”</a:t>
          </a:r>
          <a:r>
            <a:rPr lang="en-IN" sz="1100" kern="1200"/>
            <a:t> are much more likely to buy.</a:t>
          </a:r>
          <a:endParaRPr lang="en-US" sz="1100" kern="1200"/>
        </a:p>
      </dsp:txBody>
      <dsp:txXfrm>
        <a:off x="1172126" y="908559"/>
        <a:ext cx="2114937" cy="897246"/>
      </dsp:txXfrm>
    </dsp:sp>
    <dsp:sp modelId="{4CC666A8-4B9C-47C3-8729-8F02F76D4992}">
      <dsp:nvSpPr>
        <dsp:cNvPr id="0" name=""/>
        <dsp:cNvSpPr/>
      </dsp:nvSpPr>
      <dsp:spPr>
        <a:xfrm>
          <a:off x="3655575" y="908559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B42347-BC86-4629-BD31-831C6F51BDDB}">
      <dsp:nvSpPr>
        <dsp:cNvPr id="0" name=""/>
        <dsp:cNvSpPr/>
      </dsp:nvSpPr>
      <dsp:spPr>
        <a:xfrm>
          <a:off x="3843996" y="1096980"/>
          <a:ext cx="520402" cy="520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9703E9-DD7A-44C8-9ED3-9697C26D94A8}">
      <dsp:nvSpPr>
        <dsp:cNvPr id="0" name=""/>
        <dsp:cNvSpPr/>
      </dsp:nvSpPr>
      <dsp:spPr>
        <a:xfrm>
          <a:off x="4745088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Network &amp; Source:</a:t>
          </a:r>
          <a:r>
            <a:rPr lang="en-IN" sz="1100" kern="1200"/>
            <a:t> Not all channels are equal — Bing and Google consistently outperform social/email sources.</a:t>
          </a:r>
          <a:endParaRPr lang="en-US" sz="1100" kern="1200"/>
        </a:p>
      </dsp:txBody>
      <dsp:txXfrm>
        <a:off x="4745088" y="908559"/>
        <a:ext cx="2114937" cy="897246"/>
      </dsp:txXfrm>
    </dsp:sp>
    <dsp:sp modelId="{D44F9F41-8D56-49F8-A91B-A8AB2C2185E1}">
      <dsp:nvSpPr>
        <dsp:cNvPr id="0" name=""/>
        <dsp:cNvSpPr/>
      </dsp:nvSpPr>
      <dsp:spPr>
        <a:xfrm>
          <a:off x="7228536" y="908559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6E5983-85A7-4BCD-8604-3FE6376A5CDB}">
      <dsp:nvSpPr>
        <dsp:cNvPr id="0" name=""/>
        <dsp:cNvSpPr/>
      </dsp:nvSpPr>
      <dsp:spPr>
        <a:xfrm>
          <a:off x="7416958" y="1096980"/>
          <a:ext cx="520402" cy="520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4C2C7D-F5CB-4E77-A590-50E1086FA203}">
      <dsp:nvSpPr>
        <dsp:cNvPr id="0" name=""/>
        <dsp:cNvSpPr/>
      </dsp:nvSpPr>
      <dsp:spPr>
        <a:xfrm>
          <a:off x="8318049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Age &amp; Financial Indicators:</a:t>
          </a:r>
          <a:r>
            <a:rPr lang="en-IN" sz="1100" kern="1200"/>
            <a:t> Middle-aged to older customers with higher income/buying power are more likely to convert.</a:t>
          </a:r>
          <a:endParaRPr lang="en-US" sz="1100" kern="1200"/>
        </a:p>
      </dsp:txBody>
      <dsp:txXfrm>
        <a:off x="8318049" y="908559"/>
        <a:ext cx="2114937" cy="897246"/>
      </dsp:txXfrm>
    </dsp:sp>
    <dsp:sp modelId="{F0236801-DD07-4668-951D-8D278F65D710}">
      <dsp:nvSpPr>
        <dsp:cNvPr id="0" name=""/>
        <dsp:cNvSpPr/>
      </dsp:nvSpPr>
      <dsp:spPr>
        <a:xfrm>
          <a:off x="82613" y="2545532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276442-1073-44EC-B973-55C5AF01FA3A}">
      <dsp:nvSpPr>
        <dsp:cNvPr id="0" name=""/>
        <dsp:cNvSpPr/>
      </dsp:nvSpPr>
      <dsp:spPr>
        <a:xfrm>
          <a:off x="271034" y="2733954"/>
          <a:ext cx="520402" cy="5204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BD242B-9927-45AB-9A4A-D1D38AAE4328}">
      <dsp:nvSpPr>
        <dsp:cNvPr id="0" name=""/>
        <dsp:cNvSpPr/>
      </dsp:nvSpPr>
      <dsp:spPr>
        <a:xfrm>
          <a:off x="1172126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Phone Activity &amp; Match Quality:</a:t>
          </a:r>
          <a:r>
            <a:rPr lang="en-IN" sz="1100" kern="1200"/>
            <a:t> Verified/active phone signals (e.g., INPUT_PHONE_MATCHES, phone usage) boost trust and conversion odds.</a:t>
          </a:r>
          <a:endParaRPr lang="en-US" sz="1100" kern="1200"/>
        </a:p>
      </dsp:txBody>
      <dsp:txXfrm>
        <a:off x="1172126" y="2545532"/>
        <a:ext cx="2114937" cy="897246"/>
      </dsp:txXfrm>
    </dsp:sp>
    <dsp:sp modelId="{B3B97BB8-6125-4545-A9CE-A2B7E1C3C63A}">
      <dsp:nvSpPr>
        <dsp:cNvPr id="0" name=""/>
        <dsp:cNvSpPr/>
      </dsp:nvSpPr>
      <dsp:spPr>
        <a:xfrm>
          <a:off x="3655575" y="2545532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3B55F8-51CD-43C6-9C90-CDBDD24C1886}">
      <dsp:nvSpPr>
        <dsp:cNvPr id="0" name=""/>
        <dsp:cNvSpPr/>
      </dsp:nvSpPr>
      <dsp:spPr>
        <a:xfrm>
          <a:off x="3843996" y="2733954"/>
          <a:ext cx="520402" cy="52040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D39131-7FC2-48A5-8FDE-70CBF616EF3F}">
      <dsp:nvSpPr>
        <dsp:cNvPr id="0" name=""/>
        <dsp:cNvSpPr/>
      </dsp:nvSpPr>
      <dsp:spPr>
        <a:xfrm>
          <a:off x="4745088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Time of Submission:</a:t>
          </a:r>
          <a:r>
            <a:rPr lang="en-IN" sz="1100" kern="1200"/>
            <a:t> Afternoon and evening submissions show higher conversion likelihood compared to morning.</a:t>
          </a:r>
          <a:endParaRPr lang="en-US" sz="1100" kern="1200"/>
        </a:p>
      </dsp:txBody>
      <dsp:txXfrm>
        <a:off x="4745088" y="2545532"/>
        <a:ext cx="2114937" cy="897246"/>
      </dsp:txXfrm>
    </dsp:sp>
    <dsp:sp modelId="{9ACC5002-FFC6-480F-8F2E-0B646586D6F9}">
      <dsp:nvSpPr>
        <dsp:cNvPr id="0" name=""/>
        <dsp:cNvSpPr/>
      </dsp:nvSpPr>
      <dsp:spPr>
        <a:xfrm>
          <a:off x="7228536" y="2545532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A90683-B0AE-4AD0-9FAC-4BC9E9866DF4}">
      <dsp:nvSpPr>
        <dsp:cNvPr id="0" name=""/>
        <dsp:cNvSpPr/>
      </dsp:nvSpPr>
      <dsp:spPr>
        <a:xfrm>
          <a:off x="7416958" y="2733954"/>
          <a:ext cx="520402" cy="52040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5E05B4-4F8E-4BD1-A775-CAB12711A01C}">
      <dsp:nvSpPr>
        <dsp:cNvPr id="0" name=""/>
        <dsp:cNvSpPr/>
      </dsp:nvSpPr>
      <dsp:spPr>
        <a:xfrm>
          <a:off x="8318049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Unknown / Missing Values:</a:t>
          </a:r>
          <a:r>
            <a:rPr lang="en-IN" sz="1100" kern="1200"/>
            <a:t> “Unknown” or missing categories (e.g., MATCH_TYPE_Unknown) also carry signal — absence itself predicts behavior</a:t>
          </a:r>
          <a:endParaRPr lang="en-US" sz="1100" kern="1200"/>
        </a:p>
      </dsp:txBody>
      <dsp:txXfrm>
        <a:off x="8318049" y="2545532"/>
        <a:ext cx="2114937" cy="8972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494E8-DEE8-E74C-A901-186C901A68A3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880D8-AFF9-F041-83F6-AF0DF93E8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624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494E8-DEE8-E74C-A901-186C901A68A3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880D8-AFF9-F041-83F6-AF0DF93E8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922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494E8-DEE8-E74C-A901-186C901A68A3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880D8-AFF9-F041-83F6-AF0DF93E8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277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494E8-DEE8-E74C-A901-186C901A68A3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880D8-AFF9-F041-83F6-AF0DF93E8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762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494E8-DEE8-E74C-A901-186C901A68A3}" type="datetimeFigureOut">
              <a:rPr lang="en-US" smtClean="0"/>
              <a:t>9/2/25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880D8-AFF9-F041-83F6-AF0DF93E8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245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494E8-DEE8-E74C-A901-186C901A68A3}" type="datetimeFigureOut">
              <a:rPr lang="en-US" smtClean="0"/>
              <a:t>9/2/25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880D8-AFF9-F041-83F6-AF0DF93E8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403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494E8-DEE8-E74C-A901-186C901A68A3}" type="datetimeFigureOut">
              <a:rPr lang="en-US" smtClean="0"/>
              <a:t>9/2/25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880D8-AFF9-F041-83F6-AF0DF93E8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197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494E8-DEE8-E74C-A901-186C901A68A3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880D8-AFF9-F041-83F6-AF0DF93E8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328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494E8-DEE8-E74C-A901-186C901A68A3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880D8-AFF9-F041-83F6-AF0DF93E8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027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494E8-DEE8-E74C-A901-186C901A68A3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880D8-AFF9-F041-83F6-AF0DF93E8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160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494E8-DEE8-E74C-A901-186C901A68A3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880D8-AFF9-F041-83F6-AF0DF93E8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006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494E8-DEE8-E74C-A901-186C901A68A3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5880D8-AFF9-F041-83F6-AF0DF93E8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90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B8B41C-5410-5E05-851F-033C69C188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442" y="4541263"/>
            <a:ext cx="4662957" cy="1395022"/>
          </a:xfrm>
        </p:spPr>
        <p:txBody>
          <a:bodyPr anchor="t">
            <a:normAutofit/>
          </a:bodyPr>
          <a:lstStyle/>
          <a:p>
            <a:pPr algn="l"/>
            <a:r>
              <a:rPr lang="en-IN" sz="20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Predicting Lead Conversion: Data-Driven Scoring to Prioritize High-Value Customers</a:t>
            </a:r>
          </a:p>
          <a:p>
            <a:pPr algn="l"/>
            <a:r>
              <a:rPr lang="en-IN" sz="20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IN" sz="2000" i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Case Study</a:t>
            </a:r>
            <a:endParaRPr lang="en-IN" sz="200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IN" sz="2000" dirty="0">
              <a:solidFill>
                <a:srgbClr val="FFFFFF"/>
              </a:solidFill>
            </a:endParaRPr>
          </a:p>
          <a:p>
            <a:pPr algn="l"/>
            <a:endParaRPr lang="en-US" sz="2000" dirty="0">
              <a:solidFill>
                <a:srgbClr val="FFFFFF"/>
              </a:solidFill>
            </a:endParaRPr>
          </a:p>
        </p:txBody>
      </p:sp>
      <p:pic>
        <p:nvPicPr>
          <p:cNvPr id="5" name="Picture 4" descr="A close-up of a logo&#10;&#10;AI-generated content may be incorrect.">
            <a:extLst>
              <a:ext uri="{FF2B5EF4-FFF2-40B4-BE49-F238E27FC236}">
                <a16:creationId xmlns:a16="http://schemas.microsoft.com/office/drawing/2014/main" id="{0E6B9441-D9AA-70EE-911D-E53C1FD80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907" y="1891161"/>
            <a:ext cx="5163022" cy="269767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313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7" name="Rectangle 8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BCE010-4FFB-8DC5-D6F1-113E5F649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46" y="278535"/>
            <a:ext cx="9895951" cy="1033669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Objective</a:t>
            </a:r>
            <a:br>
              <a:rPr lang="en-IN" sz="3400" b="1" dirty="0">
                <a:solidFill>
                  <a:srgbClr val="FFFFFF"/>
                </a:solidFill>
              </a:rPr>
            </a:br>
            <a:endParaRPr lang="en-US" sz="3400" dirty="0">
              <a:solidFill>
                <a:srgbClr val="FFFFFF"/>
              </a:solidFill>
            </a:endParaRPr>
          </a:p>
        </p:txBody>
      </p:sp>
      <p:sp>
        <p:nvSpPr>
          <p:cNvPr id="90" name="Content Placeholder 2">
            <a:extLst>
              <a:ext uri="{FF2B5EF4-FFF2-40B4-BE49-F238E27FC236}">
                <a16:creationId xmlns:a16="http://schemas.microsoft.com/office/drawing/2014/main" id="{D840D187-D71F-065C-C71B-6D470CAA5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515" y="1812176"/>
            <a:ext cx="11038465" cy="254265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Business Objective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800" dirty="0">
                <a:latin typeface="Calibri" panose="020F0502020204030204" pitchFamily="34" charset="0"/>
                <a:cs typeface="Calibri" panose="020F0502020204030204" pitchFamily="34" charset="0"/>
              </a:rPr>
              <a:t>Build a </a:t>
            </a:r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predictive model</a:t>
            </a:r>
            <a:r>
              <a:rPr lang="en-IN" sz="1800" dirty="0">
                <a:latin typeface="Calibri" panose="020F0502020204030204" pitchFamily="34" charset="0"/>
                <a:cs typeface="Calibri" panose="020F0502020204030204" pitchFamily="34" charset="0"/>
              </a:rPr>
              <a:t> that estimates the probability of a lead converting into a paying customer.</a:t>
            </a:r>
          </a:p>
          <a:p>
            <a:r>
              <a:rPr lang="en-IN" sz="1800" dirty="0">
                <a:latin typeface="Calibri" panose="020F0502020204030204" pitchFamily="34" charset="0"/>
                <a:cs typeface="Calibri" panose="020F0502020204030204" pitchFamily="34" charset="0"/>
              </a:rPr>
              <a:t>Identify paying Customers. Shift from treating all leads  equally → to </a:t>
            </a:r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prioritizing high-value leads</a:t>
            </a:r>
            <a:r>
              <a:rPr lang="en-IN" sz="1800" dirty="0">
                <a:latin typeface="Calibri" panose="020F0502020204030204" pitchFamily="34" charset="0"/>
                <a:cs typeface="Calibri" panose="020F0502020204030204" pitchFamily="34" charset="0"/>
              </a:rPr>
              <a:t>, help Strategy boosting for business.</a:t>
            </a:r>
          </a:p>
          <a:p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Identify key factors</a:t>
            </a:r>
            <a:r>
              <a:rPr lang="en-IN" sz="1800" dirty="0">
                <a:latin typeface="Calibri" panose="020F0502020204030204" pitchFamily="34" charset="0"/>
                <a:cs typeface="Calibri" panose="020F0502020204030204" pitchFamily="34" charset="0"/>
              </a:rPr>
              <a:t> driving customer conversions for actionable insights.</a:t>
            </a:r>
          </a:p>
          <a:p>
            <a:r>
              <a:rPr lang="en-IN" sz="1800" dirty="0">
                <a:latin typeface="Calibri" panose="020F0502020204030204" pitchFamily="34" charset="0"/>
                <a:cs typeface="Calibri" panose="020F0502020204030204" pitchFamily="34" charset="0"/>
              </a:rPr>
              <a:t>Focus resources on the </a:t>
            </a:r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top 10–20% of leads most likely to convert</a:t>
            </a:r>
            <a:r>
              <a:rPr lang="en-IN" sz="1800" dirty="0">
                <a:latin typeface="Calibri" panose="020F0502020204030204" pitchFamily="34" charset="0"/>
                <a:cs typeface="Calibri" panose="020F0502020204030204" pitchFamily="34" charset="0"/>
              </a:rPr>
              <a:t>, maximizing return on sales efforts.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US" sz="2000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5631847-EB71-7837-3180-3C38C90C16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6207982"/>
              </p:ext>
            </p:extLst>
          </p:nvPr>
        </p:nvGraphicFramePr>
        <p:xfrm>
          <a:off x="1451271" y="4487351"/>
          <a:ext cx="7912100" cy="20121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81741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7" name="Rectangle 1036">
            <a:extLst>
              <a:ext uri="{FF2B5EF4-FFF2-40B4-BE49-F238E27FC236}">
                <a16:creationId xmlns:a16="http://schemas.microsoft.com/office/drawing/2014/main" id="{50D1C5B3-B60D-4696-AE60-100D5EC8A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9" name="Group 1038">
            <a:extLst>
              <a:ext uri="{FF2B5EF4-FFF2-40B4-BE49-F238E27FC236}">
                <a16:creationId xmlns:a16="http://schemas.microsoft.com/office/drawing/2014/main" id="{73EDDF53-0851-48D4-A466-6FE0DCE91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2" cy="1576446"/>
            <a:chOff x="0" y="0"/>
            <a:chExt cx="12192002" cy="1576446"/>
          </a:xfrm>
        </p:grpSpPr>
        <p:sp>
          <p:nvSpPr>
            <p:cNvPr id="1040" name="Rectangle 1039">
              <a:extLst>
                <a:ext uri="{FF2B5EF4-FFF2-40B4-BE49-F238E27FC236}">
                  <a16:creationId xmlns:a16="http://schemas.microsoft.com/office/drawing/2014/main" id="{D074D04C-85E8-4A3E-90D7-86A10AE048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1" name="Rectangle 1040">
              <a:extLst>
                <a:ext uri="{FF2B5EF4-FFF2-40B4-BE49-F238E27FC236}">
                  <a16:creationId xmlns:a16="http://schemas.microsoft.com/office/drawing/2014/main" id="{4097020A-86B6-43BD-A2AA-66AE72CA31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2" name="Rectangle 1041">
              <a:extLst>
                <a:ext uri="{FF2B5EF4-FFF2-40B4-BE49-F238E27FC236}">
                  <a16:creationId xmlns:a16="http://schemas.microsoft.com/office/drawing/2014/main" id="{20C6C743-32FE-4E24-AA22-45D3B1C7C0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48A4D9B-8CD8-B2EA-49C5-45B6D9E3B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0" y="409178"/>
            <a:ext cx="9724030" cy="834251"/>
          </a:xfrm>
        </p:spPr>
        <p:txBody>
          <a:bodyPr anchor="ctr">
            <a:normAutofit/>
          </a:bodyPr>
          <a:lstStyle/>
          <a:p>
            <a:r>
              <a:rPr lang="en-IN" sz="2400" b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 Insights from Data</a:t>
            </a:r>
            <a:br>
              <a:rPr lang="en-IN" sz="2400" b="1">
                <a:solidFill>
                  <a:srgbClr val="FFFFFF"/>
                </a:solidFill>
              </a:rPr>
            </a:br>
            <a:endParaRPr lang="en-US" sz="2400" dirty="0">
              <a:solidFill>
                <a:srgbClr val="FFFFFF"/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7F23288-6DD6-5BF7-F910-A3C33FAB68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13642" y="3223123"/>
            <a:ext cx="3966955" cy="1686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6AEA27EA-98D6-593B-5560-C10E7431E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19344" y="4909424"/>
            <a:ext cx="3661254" cy="1789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43A7481B-F2FA-63A3-90C1-DAAD4F6366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66493" y="1629829"/>
            <a:ext cx="3966955" cy="1500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40BF7-97E5-5D12-EC84-ED4B20ADA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900" y="1649641"/>
            <a:ext cx="7173728" cy="504887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1900" dirty="0">
                <a:latin typeface="Calibri" panose="020F0502020204030204" pitchFamily="34" charset="0"/>
                <a:cs typeface="Calibri" panose="020F0502020204030204" pitchFamily="34" charset="0"/>
              </a:rPr>
              <a:t>Conversion rate across the dataset is </a:t>
            </a:r>
            <a:r>
              <a:rPr lang="en-IN" sz="1900" b="1" dirty="0">
                <a:latin typeface="Calibri" panose="020F0502020204030204" pitchFamily="34" charset="0"/>
                <a:cs typeface="Calibri" panose="020F0502020204030204" pitchFamily="34" charset="0"/>
              </a:rPr>
              <a:t>~6%</a:t>
            </a:r>
            <a:r>
              <a:rPr lang="en-IN" sz="1900" dirty="0">
                <a:latin typeface="Calibri" panose="020F0502020204030204" pitchFamily="34" charset="0"/>
                <a:cs typeface="Calibri" panose="020F0502020204030204" pitchFamily="34" charset="0"/>
              </a:rPr>
              <a:t>, meaning only a small portion of leads become buying customers.</a:t>
            </a:r>
            <a:br>
              <a:rPr lang="en-IN" sz="19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IN" sz="1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900" b="1" dirty="0">
                <a:latin typeface="Calibri" panose="020F0502020204030204" pitchFamily="34" charset="0"/>
                <a:cs typeface="Calibri" panose="020F0502020204030204" pitchFamily="34" charset="0"/>
              </a:rPr>
              <a:t>Urgency is the strongest signal</a:t>
            </a:r>
            <a:r>
              <a:rPr lang="en-IN" sz="1900" dirty="0">
                <a:latin typeface="Calibri" panose="020F0502020204030204" pitchFamily="34" charset="0"/>
                <a:cs typeface="Calibri" panose="020F0502020204030204" pitchFamily="34" charset="0"/>
              </a:rPr>
              <a:t>: Leads marked </a:t>
            </a:r>
            <a:r>
              <a:rPr lang="en-IN" sz="1900" i="1" dirty="0">
                <a:latin typeface="Calibri" panose="020F0502020204030204" pitchFamily="34" charset="0"/>
                <a:cs typeface="Calibri" panose="020F0502020204030204" pitchFamily="34" charset="0"/>
              </a:rPr>
              <a:t>“As soon as possible”</a:t>
            </a:r>
            <a:r>
              <a:rPr lang="en-IN" sz="1900" dirty="0">
                <a:latin typeface="Calibri" panose="020F0502020204030204" pitchFamily="34" charset="0"/>
                <a:cs typeface="Calibri" panose="020F0502020204030204" pitchFamily="34" charset="0"/>
              </a:rPr>
              <a:t> converted at 8–9%, nearly 2× higher than hesitant customers (</a:t>
            </a:r>
            <a:r>
              <a:rPr lang="en-IN" sz="1900" i="1" dirty="0">
                <a:latin typeface="Calibri" panose="020F0502020204030204" pitchFamily="34" charset="0"/>
                <a:cs typeface="Calibri" panose="020F0502020204030204" pitchFamily="34" charset="0"/>
              </a:rPr>
              <a:t>“I’m not sure”</a:t>
            </a:r>
            <a:r>
              <a:rPr lang="en-IN" sz="1900" dirty="0">
                <a:latin typeface="Calibri" panose="020F0502020204030204" pitchFamily="34" charset="0"/>
                <a:cs typeface="Calibri" panose="020F0502020204030204" pitchFamily="34" charset="0"/>
              </a:rPr>
              <a:t> ~3%).</a:t>
            </a:r>
          </a:p>
          <a:p>
            <a:r>
              <a:rPr lang="en-IN" sz="1900" b="1" dirty="0">
                <a:latin typeface="Calibri" panose="020F0502020204030204" pitchFamily="34" charset="0"/>
                <a:cs typeface="Calibri" panose="020F0502020204030204" pitchFamily="34" charset="0"/>
              </a:rPr>
              <a:t>Source &amp; Network matter</a:t>
            </a:r>
            <a:r>
              <a:rPr lang="en-IN" sz="1900" dirty="0">
                <a:latin typeface="Calibri" panose="020F0502020204030204" pitchFamily="34" charset="0"/>
                <a:cs typeface="Calibri" panose="020F0502020204030204" pitchFamily="34" charset="0"/>
              </a:rPr>
              <a:t>: Google and “b” channels performed better (7–9% conversion) compared to Facebook/email (3–4%).</a:t>
            </a:r>
          </a:p>
          <a:p>
            <a:r>
              <a:rPr lang="en-IN" sz="1900" b="1" dirty="0">
                <a:latin typeface="Calibri" panose="020F0502020204030204" pitchFamily="34" charset="0"/>
                <a:cs typeface="Calibri" panose="020F0502020204030204" pitchFamily="34" charset="0"/>
              </a:rPr>
              <a:t>Device type influences outcomes</a:t>
            </a:r>
            <a:r>
              <a:rPr lang="en-IN" sz="1900" dirty="0">
                <a:latin typeface="Calibri" panose="020F0502020204030204" pitchFamily="34" charset="0"/>
                <a:cs typeface="Calibri" panose="020F0502020204030204" pitchFamily="34" charset="0"/>
              </a:rPr>
              <a:t>: Desktop leads converted at ~8%, outperforming mobile/tablet (~7%).</a:t>
            </a:r>
          </a:p>
          <a:p>
            <a:r>
              <a:rPr lang="en-IN" sz="1900" b="1" dirty="0">
                <a:latin typeface="Calibri" panose="020F0502020204030204" pitchFamily="34" charset="0"/>
                <a:cs typeface="Calibri" panose="020F0502020204030204" pitchFamily="34" charset="0"/>
              </a:rPr>
              <a:t>Customer profile signals</a:t>
            </a:r>
            <a:r>
              <a:rPr lang="en-IN" sz="1900" dirty="0">
                <a:latin typeface="Calibri" panose="020F0502020204030204" pitchFamily="34" charset="0"/>
                <a:cs typeface="Calibri" panose="020F0502020204030204" pitchFamily="34" charset="0"/>
              </a:rPr>
              <a:t>: Higher Buying Power Score and Net Asset Value were associated with higher conversion.</a:t>
            </a:r>
          </a:p>
          <a:p>
            <a:r>
              <a:rPr lang="en-IN" sz="1900" b="1" dirty="0">
                <a:latin typeface="Calibri" panose="020F0502020204030204" pitchFamily="34" charset="0"/>
                <a:cs typeface="Calibri" panose="020F0502020204030204" pitchFamily="34" charset="0"/>
              </a:rPr>
              <a:t>Geography matters</a:t>
            </a:r>
            <a:r>
              <a:rPr lang="en-IN" sz="1900" dirty="0">
                <a:latin typeface="Calibri" panose="020F0502020204030204" pitchFamily="34" charset="0"/>
                <a:cs typeface="Calibri" panose="020F0502020204030204" pitchFamily="34" charset="0"/>
              </a:rPr>
              <a:t>: Certain states (e.g., AK, NM, SD) showed conversion rates </a:t>
            </a:r>
            <a:r>
              <a:rPr lang="en-IN" sz="1900" b="1" dirty="0">
                <a:latin typeface="Calibri" panose="020F0502020204030204" pitchFamily="34" charset="0"/>
                <a:cs typeface="Calibri" panose="020F0502020204030204" pitchFamily="34" charset="0"/>
              </a:rPr>
              <a:t>&gt;8%</a:t>
            </a:r>
            <a:r>
              <a:rPr lang="en-IN" sz="1900" dirty="0">
                <a:latin typeface="Calibri" panose="020F0502020204030204" pitchFamily="34" charset="0"/>
                <a:cs typeface="Calibri" panose="020F0502020204030204" pitchFamily="34" charset="0"/>
              </a:rPr>
              <a:t>, above the ~6% average.</a:t>
            </a:r>
          </a:p>
          <a:p>
            <a:r>
              <a:rPr lang="en-IN" sz="1900" dirty="0">
                <a:latin typeface="Calibri" panose="020F0502020204030204" pitchFamily="34" charset="0"/>
                <a:cs typeface="Calibri" panose="020F0502020204030204" pitchFamily="34" charset="0"/>
              </a:rPr>
              <a:t>Data quality matters: “Unknown” or missing categories (e.g., </a:t>
            </a:r>
            <a:r>
              <a:rPr lang="en-IN" sz="1900" i="1" dirty="0" err="1">
                <a:latin typeface="Calibri" panose="020F0502020204030204" pitchFamily="34" charset="0"/>
                <a:cs typeface="Calibri" panose="020F0502020204030204" pitchFamily="34" charset="0"/>
              </a:rPr>
              <a:t>MATCH_TYPE_Unknown</a:t>
            </a:r>
            <a:r>
              <a:rPr lang="en-IN" sz="1900" dirty="0">
                <a:latin typeface="Calibri" panose="020F0502020204030204" pitchFamily="34" charset="0"/>
                <a:cs typeface="Calibri" panose="020F0502020204030204" pitchFamily="34" charset="0"/>
              </a:rPr>
              <a:t>) still carry signal — they should be tracked as predictive features, not ignored as noise.</a:t>
            </a:r>
          </a:p>
          <a:p>
            <a:pPr marL="0" indent="0">
              <a:buNone/>
            </a:pPr>
            <a:endParaRPr lang="en-IN" sz="1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1500" b="1" dirty="0">
                <a:latin typeface="Calibri" panose="020F0502020204030204" pitchFamily="34" charset="0"/>
                <a:cs typeface="Calibri" panose="020F0502020204030204" pitchFamily="34" charset="0"/>
              </a:rPr>
              <a:t>Not all leads are equal — urgency, source, and customer profile are key levers to prioritize high-value opportunities.</a:t>
            </a:r>
          </a:p>
          <a:p>
            <a:pPr marL="0" indent="0">
              <a:buNone/>
            </a:pPr>
            <a:endParaRPr lang="en-US" sz="500" dirty="0"/>
          </a:p>
        </p:txBody>
      </p:sp>
    </p:spTree>
    <p:extLst>
      <p:ext uri="{BB962C8B-B14F-4D97-AF65-F5344CB8AC3E}">
        <p14:creationId xmlns:p14="http://schemas.microsoft.com/office/powerpoint/2010/main" val="824280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E42F70-0800-C8E3-C2DD-D7C22F598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46" y="278536"/>
            <a:ext cx="9895951" cy="1033669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 Results</a:t>
            </a:r>
            <a:endParaRPr lang="en-US" sz="240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92D92-F3DA-CD8A-8561-0C5E5133A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1" y="1885278"/>
            <a:ext cx="6946899" cy="4678183"/>
          </a:xfrm>
        </p:spPr>
        <p:txBody>
          <a:bodyPr anchor="ctr">
            <a:normAutofit fontScale="40000" lnSpcReduction="20000"/>
          </a:bodyPr>
          <a:lstStyle/>
          <a:p>
            <a:pPr marL="0" indent="0">
              <a:buNone/>
            </a:pPr>
            <a:r>
              <a:rPr lang="en-IN" sz="3800" b="1" dirty="0">
                <a:latin typeface="Calibri" panose="020F0502020204030204" pitchFamily="34" charset="0"/>
                <a:cs typeface="Calibri" panose="020F0502020204030204" pitchFamily="34" charset="0"/>
              </a:rPr>
              <a:t>Logistic Regression (Tuned)</a:t>
            </a:r>
            <a:endParaRPr lang="en-IN" sz="3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3800" dirty="0">
                <a:latin typeface="Calibri" panose="020F0502020204030204" pitchFamily="34" charset="0"/>
                <a:cs typeface="Calibri" panose="020F0502020204030204" pitchFamily="34" charset="0"/>
              </a:rPr>
              <a:t>ROC AUC: </a:t>
            </a:r>
            <a:r>
              <a:rPr lang="en-IN" sz="3800" b="1" dirty="0">
                <a:latin typeface="Calibri" panose="020F0502020204030204" pitchFamily="34" charset="0"/>
                <a:cs typeface="Calibri" panose="020F0502020204030204" pitchFamily="34" charset="0"/>
              </a:rPr>
              <a:t>0.6816</a:t>
            </a:r>
            <a:r>
              <a:rPr lang="en-IN" sz="3800" dirty="0">
                <a:latin typeface="Calibri" panose="020F0502020204030204" pitchFamily="34" charset="0"/>
                <a:cs typeface="Calibri" panose="020F0502020204030204" pitchFamily="34" charset="0"/>
              </a:rPr>
              <a:t> (vs. random 0.5 → solid separation of good vs. weak leads).</a:t>
            </a:r>
          </a:p>
          <a:p>
            <a:r>
              <a:rPr lang="en-IN" sz="3800" dirty="0">
                <a:latin typeface="Calibri" panose="020F0502020204030204" pitchFamily="34" charset="0"/>
                <a:cs typeface="Calibri" panose="020F0502020204030204" pitchFamily="34" charset="0"/>
              </a:rPr>
              <a:t>Recall for converters: </a:t>
            </a:r>
            <a:r>
              <a:rPr lang="en-IN" sz="3800" b="1" dirty="0">
                <a:latin typeface="Calibri" panose="020F0502020204030204" pitchFamily="34" charset="0"/>
                <a:cs typeface="Calibri" panose="020F0502020204030204" pitchFamily="34" charset="0"/>
              </a:rPr>
              <a:t>~65%</a:t>
            </a:r>
            <a:r>
              <a:rPr lang="en-IN" sz="3800" dirty="0">
                <a:latin typeface="Calibri" panose="020F0502020204030204" pitchFamily="34" charset="0"/>
                <a:cs typeface="Calibri" panose="020F0502020204030204" pitchFamily="34" charset="0"/>
              </a:rPr>
              <a:t> → captures nearly </a:t>
            </a:r>
            <a:r>
              <a:rPr lang="en-IN" sz="3800" b="1" dirty="0">
                <a:latin typeface="Calibri" panose="020F0502020204030204" pitchFamily="34" charset="0"/>
                <a:cs typeface="Calibri" panose="020F0502020204030204" pitchFamily="34" charset="0"/>
              </a:rPr>
              <a:t>2 out of 3 buyers</a:t>
            </a:r>
            <a:r>
              <a:rPr lang="en-IN" sz="3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IN" sz="3800" dirty="0">
                <a:latin typeface="Calibri" panose="020F0502020204030204" pitchFamily="34" charset="0"/>
                <a:cs typeface="Calibri" panose="020F0502020204030204" pitchFamily="34" charset="0"/>
              </a:rPr>
              <a:t>Precision for converters: </a:t>
            </a:r>
            <a:r>
              <a:rPr lang="en-IN" sz="3800" b="1" dirty="0">
                <a:latin typeface="Calibri" panose="020F0502020204030204" pitchFamily="34" charset="0"/>
                <a:cs typeface="Calibri" panose="020F0502020204030204" pitchFamily="34" charset="0"/>
              </a:rPr>
              <a:t>~9–10%</a:t>
            </a:r>
            <a:r>
              <a:rPr lang="en-IN" sz="3800" dirty="0">
                <a:latin typeface="Calibri" panose="020F0502020204030204" pitchFamily="34" charset="0"/>
                <a:cs typeface="Calibri" panose="020F0502020204030204" pitchFamily="34" charset="0"/>
              </a:rPr>
              <a:t> → many false positives, but expected in a </a:t>
            </a:r>
            <a:r>
              <a:rPr lang="en-IN" sz="3800" b="1" dirty="0">
                <a:latin typeface="Calibri" panose="020F0502020204030204" pitchFamily="34" charset="0"/>
                <a:cs typeface="Calibri" panose="020F0502020204030204" pitchFamily="34" charset="0"/>
              </a:rPr>
              <a:t>6% base conversion rate</a:t>
            </a:r>
            <a:r>
              <a:rPr lang="en-IN" sz="3800" dirty="0">
                <a:latin typeface="Calibri" panose="020F0502020204030204" pitchFamily="34" charset="0"/>
                <a:cs typeface="Calibri" panose="020F0502020204030204" pitchFamily="34" charset="0"/>
              </a:rPr>
              <a:t> setting.</a:t>
            </a:r>
          </a:p>
          <a:p>
            <a:r>
              <a:rPr lang="en-IN" sz="3800" b="1" dirty="0">
                <a:latin typeface="Calibri" panose="020F0502020204030204" pitchFamily="34" charset="0"/>
                <a:cs typeface="Calibri" panose="020F0502020204030204" pitchFamily="34" charset="0"/>
              </a:rPr>
              <a:t>Lift:</a:t>
            </a:r>
            <a:r>
              <a:rPr lang="en-IN" sz="3800" dirty="0">
                <a:latin typeface="Calibri" panose="020F0502020204030204" pitchFamily="34" charset="0"/>
                <a:cs typeface="Calibri" panose="020F0502020204030204" pitchFamily="34" charset="0"/>
              </a:rPr>
              <a:t> Top 10% of leads convert at </a:t>
            </a:r>
            <a:r>
              <a:rPr lang="en-IN" sz="3800" b="1" dirty="0">
                <a:latin typeface="Calibri" panose="020F0502020204030204" pitchFamily="34" charset="0"/>
                <a:cs typeface="Calibri" panose="020F0502020204030204" pitchFamily="34" charset="0"/>
              </a:rPr>
              <a:t>~2.4× the base rate</a:t>
            </a:r>
            <a:r>
              <a:rPr lang="en-IN" sz="3800" dirty="0">
                <a:latin typeface="Calibri" panose="020F0502020204030204" pitchFamily="34" charset="0"/>
                <a:cs typeface="Calibri" panose="020F0502020204030204" pitchFamily="34" charset="0"/>
              </a:rPr>
              <a:t> (≈14–15% vs. 6%).</a:t>
            </a:r>
            <a:br>
              <a:rPr lang="en-IN" sz="3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IN" sz="3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3800" b="1" dirty="0" err="1">
                <a:latin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lang="en-IN" sz="3800" b="1" dirty="0">
                <a:latin typeface="Calibri" panose="020F0502020204030204" pitchFamily="34" charset="0"/>
                <a:cs typeface="Calibri" panose="020F0502020204030204" pitchFamily="34" charset="0"/>
              </a:rPr>
              <a:t> (Tuned)</a:t>
            </a:r>
            <a:endParaRPr lang="en-IN" sz="3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3800" dirty="0">
                <a:latin typeface="Calibri" panose="020F0502020204030204" pitchFamily="34" charset="0"/>
                <a:cs typeface="Calibri" panose="020F0502020204030204" pitchFamily="34" charset="0"/>
              </a:rPr>
              <a:t>ROC AUC: </a:t>
            </a:r>
            <a:r>
              <a:rPr lang="en-IN" sz="3800" b="1" dirty="0">
                <a:latin typeface="Calibri" panose="020F0502020204030204" pitchFamily="34" charset="0"/>
                <a:cs typeface="Calibri" panose="020F0502020204030204" pitchFamily="34" charset="0"/>
              </a:rPr>
              <a:t>0.6834</a:t>
            </a:r>
            <a:r>
              <a:rPr lang="en-IN" sz="3800" dirty="0">
                <a:latin typeface="Calibri" panose="020F0502020204030204" pitchFamily="34" charset="0"/>
                <a:cs typeface="Calibri" panose="020F0502020204030204" pitchFamily="34" charset="0"/>
              </a:rPr>
              <a:t> (slightly stronger than logistic).</a:t>
            </a:r>
          </a:p>
          <a:p>
            <a:r>
              <a:rPr lang="en-IN" sz="3800" dirty="0">
                <a:latin typeface="Calibri" panose="020F0502020204030204" pitchFamily="34" charset="0"/>
                <a:cs typeface="Calibri" panose="020F0502020204030204" pitchFamily="34" charset="0"/>
              </a:rPr>
              <a:t>Similar recall/precision </a:t>
            </a:r>
            <a:r>
              <a:rPr lang="en-IN" sz="3800" dirty="0" err="1">
                <a:latin typeface="Calibri" panose="020F0502020204030204" pitchFamily="34" charset="0"/>
                <a:cs typeface="Calibri" panose="020F0502020204030204" pitchFamily="34" charset="0"/>
              </a:rPr>
              <a:t>tradeoff</a:t>
            </a:r>
            <a:r>
              <a:rPr lang="en-IN" sz="3800" dirty="0">
                <a:latin typeface="Calibri" panose="020F0502020204030204" pitchFamily="34" charset="0"/>
                <a:cs typeface="Calibri" panose="020F0502020204030204" pitchFamily="34" charset="0"/>
              </a:rPr>
              <a:t>, with better handling of </a:t>
            </a:r>
            <a:r>
              <a:rPr lang="en-IN" sz="3800" b="1" dirty="0">
                <a:latin typeface="Calibri" panose="020F0502020204030204" pitchFamily="34" charset="0"/>
                <a:cs typeface="Calibri" panose="020F0502020204030204" pitchFamily="34" charset="0"/>
              </a:rPr>
              <a:t>feature interactions</a:t>
            </a:r>
            <a:r>
              <a:rPr lang="en-IN" sz="3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IN" sz="3800" b="1" dirty="0">
                <a:latin typeface="Calibri" panose="020F0502020204030204" pitchFamily="34" charset="0"/>
                <a:cs typeface="Calibri" panose="020F0502020204030204" pitchFamily="34" charset="0"/>
              </a:rPr>
              <a:t>Lift:</a:t>
            </a:r>
            <a:r>
              <a:rPr lang="en-IN" sz="3800" dirty="0">
                <a:latin typeface="Calibri" panose="020F0502020204030204" pitchFamily="34" charset="0"/>
                <a:cs typeface="Calibri" panose="020F0502020204030204" pitchFamily="34" charset="0"/>
              </a:rPr>
              <a:t> Top 10% of leads convert at </a:t>
            </a:r>
            <a:r>
              <a:rPr lang="en-IN" sz="3800" b="1" dirty="0">
                <a:latin typeface="Calibri" panose="020F0502020204030204" pitchFamily="34" charset="0"/>
                <a:cs typeface="Calibri" panose="020F0502020204030204" pitchFamily="34" charset="0"/>
              </a:rPr>
              <a:t>~2.36× the base rate</a:t>
            </a:r>
            <a:r>
              <a:rPr lang="en-IN" sz="3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IN" sz="3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IN" sz="3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3800" b="1" dirty="0">
                <a:latin typeface="Calibri" panose="020F0502020204030204" pitchFamily="34" charset="0"/>
                <a:cs typeface="Calibri" panose="020F0502020204030204" pitchFamily="34" charset="0"/>
              </a:rPr>
              <a:t>Key Takeaway for the Business</a:t>
            </a:r>
            <a:endParaRPr lang="en-IN" sz="3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3800" dirty="0">
                <a:latin typeface="Calibri" panose="020F0502020204030204" pitchFamily="34" charset="0"/>
                <a:cs typeface="Calibri" panose="020F0502020204030204" pitchFamily="34" charset="0"/>
              </a:rPr>
              <a:t>Both models are </a:t>
            </a:r>
            <a:r>
              <a:rPr lang="en-IN" sz="3800" b="1" dirty="0">
                <a:latin typeface="Calibri" panose="020F0502020204030204" pitchFamily="34" charset="0"/>
                <a:cs typeface="Calibri" panose="020F0502020204030204" pitchFamily="34" charset="0"/>
              </a:rPr>
              <a:t>consistent and stable</a:t>
            </a:r>
            <a:r>
              <a:rPr lang="en-IN" sz="3800" dirty="0">
                <a:latin typeface="Calibri" panose="020F0502020204030204" pitchFamily="34" charset="0"/>
                <a:cs typeface="Calibri" panose="020F0502020204030204" pitchFamily="34" charset="0"/>
              </a:rPr>
              <a:t>, with </a:t>
            </a:r>
            <a:r>
              <a:rPr lang="en-IN" sz="3800" b="1" dirty="0">
                <a:latin typeface="Calibri" panose="020F0502020204030204" pitchFamily="34" charset="0"/>
                <a:cs typeface="Calibri" panose="020F0502020204030204" pitchFamily="34" charset="0"/>
              </a:rPr>
              <a:t>5-fold CV AUC ≈ 0.66–0.67</a:t>
            </a:r>
            <a:r>
              <a:rPr lang="en-IN" sz="3800" dirty="0">
                <a:latin typeface="Calibri" panose="020F0502020204030204" pitchFamily="34" charset="0"/>
                <a:cs typeface="Calibri" panose="020F0502020204030204" pitchFamily="34" charset="0"/>
              </a:rPr>
              <a:t> across folds.</a:t>
            </a:r>
          </a:p>
          <a:p>
            <a:r>
              <a:rPr lang="en-IN" sz="3800" dirty="0">
                <a:latin typeface="Calibri" panose="020F0502020204030204" pitchFamily="34" charset="0"/>
                <a:cs typeface="Calibri" panose="020F0502020204030204" pitchFamily="34" charset="0"/>
              </a:rPr>
              <a:t>While not perfect, models </a:t>
            </a:r>
            <a:r>
              <a:rPr lang="en-IN" sz="3800" b="1" dirty="0">
                <a:latin typeface="Calibri" panose="020F0502020204030204" pitchFamily="34" charset="0"/>
                <a:cs typeface="Calibri" panose="020F0502020204030204" pitchFamily="34" charset="0"/>
              </a:rPr>
              <a:t>reliably rank leads by quality</a:t>
            </a:r>
            <a:r>
              <a:rPr lang="en-IN" sz="3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IN" sz="3800" dirty="0">
                <a:latin typeface="Calibri" panose="020F0502020204030204" pitchFamily="34" charset="0"/>
                <a:cs typeface="Calibri" panose="020F0502020204030204" pitchFamily="34" charset="0"/>
              </a:rPr>
              <a:t>Example: Prioritizing the </a:t>
            </a:r>
            <a:r>
              <a:rPr lang="en-IN" sz="3800" b="1" dirty="0">
                <a:latin typeface="Calibri" panose="020F0502020204030204" pitchFamily="34" charset="0"/>
                <a:cs typeface="Calibri" panose="020F0502020204030204" pitchFamily="34" charset="0"/>
              </a:rPr>
              <a:t>top 10% of leads could more than double conversion efficiency</a:t>
            </a:r>
            <a:r>
              <a:rPr lang="en-IN" sz="3800" dirty="0">
                <a:latin typeface="Calibri" panose="020F0502020204030204" pitchFamily="34" charset="0"/>
                <a:cs typeface="Calibri" panose="020F0502020204030204" pitchFamily="34" charset="0"/>
              </a:rPr>
              <a:t> for sales teams.</a:t>
            </a:r>
          </a:p>
          <a:p>
            <a:pPr algn="just"/>
            <a:endParaRPr lang="en-IN" sz="2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1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3B25B5C-B9A3-0776-A538-F8FC373E32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1701" y="4096875"/>
            <a:ext cx="4282049" cy="2367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25FFD981-76CA-D693-8A5B-06F6576DD3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9300" y="1590741"/>
            <a:ext cx="4633350" cy="22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1988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747D69-E45D-BC12-B440-5A15E516C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865"/>
            <a:ext cx="10263476" cy="1576446"/>
          </a:xfrm>
        </p:spPr>
        <p:txBody>
          <a:bodyPr anchor="ctr">
            <a:normAutofit/>
          </a:bodyPr>
          <a:lstStyle/>
          <a:p>
            <a:r>
              <a:rPr lang="en-IN" sz="24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Most Important Features Driving Predictions</a:t>
            </a:r>
            <a:br>
              <a:rPr lang="en-IN" sz="4000" b="1" dirty="0">
                <a:solidFill>
                  <a:srgbClr val="FFFFFF"/>
                </a:solidFill>
              </a:rPr>
            </a:br>
            <a:endParaRPr lang="en-US" sz="4000" dirty="0">
              <a:solidFill>
                <a:srgbClr val="FFFFFF"/>
              </a:solidFill>
            </a:endParaRPr>
          </a:p>
        </p:txBody>
      </p:sp>
      <p:graphicFrame>
        <p:nvGraphicFramePr>
          <p:cNvPr id="25" name="Content Placeholder 5">
            <a:extLst>
              <a:ext uri="{FF2B5EF4-FFF2-40B4-BE49-F238E27FC236}">
                <a16:creationId xmlns:a16="http://schemas.microsoft.com/office/drawing/2014/main" id="{6E1BBFBA-C672-8872-39D3-54B28C32EC5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92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DF7633-61D8-DF4A-FA1A-0FC23B0C6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47" y="294538"/>
            <a:ext cx="10808204" cy="1033669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Business Application &amp; Next Steps</a:t>
            </a:r>
            <a:br>
              <a:rPr lang="en-IN" sz="3400" b="1" dirty="0">
                <a:solidFill>
                  <a:srgbClr val="FFFFFF"/>
                </a:solidFill>
              </a:rPr>
            </a:br>
            <a:endParaRPr lang="en-US" sz="34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FD4F8-4518-7F1D-D960-7352FFCE6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347" y="1794510"/>
            <a:ext cx="11450712" cy="4768952"/>
          </a:xfrm>
        </p:spPr>
        <p:txBody>
          <a:bodyPr anchor="ctr">
            <a:normAutofit fontScale="92500" lnSpcReduction="20000"/>
          </a:bodyPr>
          <a:lstStyle/>
          <a:p>
            <a:pPr algn="just"/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Lead Prioritization:</a:t>
            </a:r>
            <a:r>
              <a:rPr lang="en-IN" sz="1800" dirty="0">
                <a:latin typeface="Calibri" panose="020F0502020204030204" pitchFamily="34" charset="0"/>
                <a:cs typeface="Calibri" panose="020F0502020204030204" pitchFamily="34" charset="0"/>
              </a:rPr>
              <a:t> Models can reliably separate higher- vs. lower-quality leads → focus sales on the </a:t>
            </a:r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top 10–20% most likely to convert</a:t>
            </a:r>
            <a:r>
              <a:rPr lang="en-IN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Campaign Optimization:</a:t>
            </a:r>
            <a:r>
              <a:rPr lang="en-IN" sz="1800" dirty="0">
                <a:latin typeface="Calibri" panose="020F0502020204030204" pitchFamily="34" charset="0"/>
                <a:cs typeface="Calibri" panose="020F0502020204030204" pitchFamily="34" charset="0"/>
              </a:rPr>
              <a:t> Insights on </a:t>
            </a:r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source, network, and urgency</a:t>
            </a:r>
            <a:r>
              <a:rPr lang="en-IN" sz="1800" dirty="0">
                <a:latin typeface="Calibri" panose="020F0502020204030204" pitchFamily="34" charset="0"/>
                <a:cs typeface="Calibri" panose="020F0502020204030204" pitchFamily="34" charset="0"/>
              </a:rPr>
              <a:t> help allocate marketing spend to </a:t>
            </a:r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high-performing channels</a:t>
            </a:r>
            <a:r>
              <a:rPr lang="en-IN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Sales Efficiency:</a:t>
            </a:r>
            <a:r>
              <a:rPr lang="en-IN" sz="1800" dirty="0">
                <a:latin typeface="Calibri" panose="020F0502020204030204" pitchFamily="34" charset="0"/>
                <a:cs typeface="Calibri" panose="020F0502020204030204" pitchFamily="34" charset="0"/>
              </a:rPr>
              <a:t> By reducing time wasted on low-probability leads, sales teams can </a:t>
            </a:r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increase ROI and close rates</a:t>
            </a:r>
            <a:r>
              <a:rPr lang="en-IN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Customer Insights:</a:t>
            </a:r>
            <a:r>
              <a:rPr lang="en-IN" sz="1800" dirty="0">
                <a:latin typeface="Calibri" panose="020F0502020204030204" pitchFamily="34" charset="0"/>
                <a:cs typeface="Calibri" panose="020F0502020204030204" pitchFamily="34" charset="0"/>
              </a:rPr>
              <a:t> Feature importance (urgency, phone activity, demographics) gives </a:t>
            </a:r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actionable signals</a:t>
            </a:r>
            <a:r>
              <a:rPr lang="en-IN" sz="1800" dirty="0">
                <a:latin typeface="Calibri" panose="020F0502020204030204" pitchFamily="34" charset="0"/>
                <a:cs typeface="Calibri" panose="020F0502020204030204" pitchFamily="34" charset="0"/>
              </a:rPr>
              <a:t> to improve targeting and messaging.</a:t>
            </a:r>
          </a:p>
          <a:p>
            <a:pPr algn="just"/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Scalable Process:</a:t>
            </a:r>
            <a:r>
              <a:rPr lang="en-IN" sz="1800" dirty="0">
                <a:latin typeface="Calibri" panose="020F0502020204030204" pitchFamily="34" charset="0"/>
                <a:cs typeface="Calibri" panose="020F0502020204030204" pitchFamily="34" charset="0"/>
              </a:rPr>
              <a:t> The reproducible pipeline allows for </a:t>
            </a:r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continuous updates</a:t>
            </a:r>
            <a:r>
              <a:rPr lang="en-IN" sz="1800" dirty="0">
                <a:latin typeface="Calibri" panose="020F0502020204030204" pitchFamily="34" charset="0"/>
                <a:cs typeface="Calibri" panose="020F0502020204030204" pitchFamily="34" charset="0"/>
              </a:rPr>
              <a:t> as new data arrives, keeping predictions relevant.</a:t>
            </a:r>
          </a:p>
          <a:p>
            <a:pPr marL="0" indent="0" algn="just">
              <a:buNone/>
            </a:pP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en-IN" sz="1800" b="1" dirty="0"/>
              <a:t>simple production pipeline:</a:t>
            </a:r>
          </a:p>
          <a:p>
            <a:pPr marL="0" indent="0" algn="just">
              <a:buNone/>
            </a:pPr>
            <a:br>
              <a:rPr lang="en-IN" sz="1800" dirty="0"/>
            </a:br>
            <a:r>
              <a:rPr lang="en-IN" sz="1900" dirty="0">
                <a:latin typeface="Calibri" panose="020F0502020204030204" pitchFamily="34" charset="0"/>
                <a:cs typeface="Calibri" panose="020F0502020204030204" pitchFamily="34" charset="0"/>
              </a:rPr>
              <a:t>New Lead </a:t>
            </a:r>
            <a:r>
              <a:rPr lang="en-IN" sz="19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</a:t>
            </a:r>
            <a:r>
              <a:rPr lang="en-IN" sz="1900" dirty="0">
                <a:latin typeface="Calibri" panose="020F0502020204030204" pitchFamily="34" charset="0"/>
                <a:cs typeface="Calibri" panose="020F0502020204030204" pitchFamily="34" charset="0"/>
              </a:rPr>
              <a:t> Preprocessing (cleaning, feature engineering, encoding) </a:t>
            </a:r>
            <a:r>
              <a:rPr lang="en-IN" sz="19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</a:t>
            </a:r>
            <a:r>
              <a:rPr lang="en-IN" sz="1900" dirty="0">
                <a:latin typeface="Calibri" panose="020F0502020204030204" pitchFamily="34" charset="0"/>
                <a:cs typeface="Calibri" panose="020F0502020204030204" pitchFamily="34" charset="0"/>
              </a:rPr>
              <a:t> Model (Logistic/XGB) </a:t>
            </a:r>
            <a:r>
              <a:rPr lang="en-IN" sz="19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</a:t>
            </a:r>
            <a:r>
              <a:rPr lang="en-IN" sz="1900" dirty="0">
                <a:latin typeface="Calibri" panose="020F0502020204030204" pitchFamily="34" charset="0"/>
                <a:cs typeface="Calibri" panose="020F0502020204030204" pitchFamily="34" charset="0"/>
              </a:rPr>
              <a:t> Score</a:t>
            </a:r>
            <a:br>
              <a:rPr lang="en-IN" sz="19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900" dirty="0">
                <a:latin typeface="Calibri" panose="020F0502020204030204" pitchFamily="34" charset="0"/>
                <a:cs typeface="Calibri" panose="020F0502020204030204" pitchFamily="34" charset="0"/>
              </a:rPr>
              <a:t>(probability of conversion) </a:t>
            </a:r>
            <a:r>
              <a:rPr lang="en-IN" sz="19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</a:t>
            </a:r>
            <a:r>
              <a:rPr lang="en-IN" sz="1900" dirty="0">
                <a:latin typeface="Calibri" panose="020F0502020204030204" pitchFamily="34" charset="0"/>
                <a:cs typeface="Calibri" panose="020F0502020204030204" pitchFamily="34" charset="0"/>
              </a:rPr>
              <a:t> Dashboard/CRM (Snowflake, Salesforce, Power BI/Tableau) </a:t>
            </a:r>
            <a:r>
              <a:rPr lang="en-IN" sz="19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</a:t>
            </a:r>
            <a:r>
              <a:rPr lang="en-IN" sz="1900" dirty="0">
                <a:latin typeface="Calibri" panose="020F0502020204030204" pitchFamily="34" charset="0"/>
                <a:cs typeface="Calibri" panose="020F0502020204030204" pitchFamily="34" charset="0"/>
              </a:rPr>
              <a:t> Sales Prioritization (focus on top leads)</a:t>
            </a:r>
          </a:p>
          <a:p>
            <a:pPr marL="0" indent="0" algn="just">
              <a:buNone/>
            </a:pP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IN" sz="1700" dirty="0"/>
          </a:p>
          <a:p>
            <a:pPr marL="0" indent="0">
              <a:buNone/>
            </a:pPr>
            <a:r>
              <a:rPr lang="en-IN" sz="1700" b="1" dirty="0"/>
              <a:t>    </a:t>
            </a:r>
            <a:endParaRPr lang="en-IN" sz="1700" dirty="0"/>
          </a:p>
          <a:p>
            <a:pPr marL="0" indent="0">
              <a:buNone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944149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893</TotalTime>
  <Words>822</Words>
  <Application>Microsoft Macintosh PowerPoint</Application>
  <PresentationFormat>Widescreen</PresentationFormat>
  <Paragraphs>55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PowerPoint Presentation</vt:lpstr>
      <vt:lpstr>Objective </vt:lpstr>
      <vt:lpstr>Key Insights from Data </vt:lpstr>
      <vt:lpstr>Model Results</vt:lpstr>
      <vt:lpstr>Most Important Features Driving Predictions </vt:lpstr>
      <vt:lpstr>Business Application &amp; Next Steps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YELAKONDA AVIKSHITH REDDY</dc:creator>
  <cp:lastModifiedBy>YELAKONDA AVIKSHITH REDDY</cp:lastModifiedBy>
  <cp:revision>6</cp:revision>
  <dcterms:created xsi:type="dcterms:W3CDTF">2025-08-30T21:49:14Z</dcterms:created>
  <dcterms:modified xsi:type="dcterms:W3CDTF">2025-09-02T05:07:19Z</dcterms:modified>
</cp:coreProperties>
</file>